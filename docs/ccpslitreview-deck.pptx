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6313A"/>
                </a:solidFill>
                <a:latin typeface="Calibri"/>
              </a:defRPr>
            </a:pPr>
            <a:r>
              <a:rPr sz="1300" b="0" i="0" u="none" strike="noStrike">
                <a:solidFill>
                  <a:srgbClr val="06313A"/>
                </a:solidFill>
                <a:latin typeface="Calibri"/>
              </a:rPr>
              <a:t>Scores given across 1,039 judgments</a:t>
            </a:r>
          </a:p>
        </c:rich>
      </c:tx>
      <c:layout/>
      <c:overlay val="0"/>
    </c:title>
    <c:autoTitleDeleted val="0"/>
    <c:plotArea>
      <c:layout/>
      <c:barChart>
        <c:barDir val="col"/>
        <c:grouping val="clustered"/>
        <c:varyColors val="0"/>
        <c:ser>
          <c:idx val="0"/>
          <c:order val="0"/>
          <c:tx>
            <c:strRef>
              <c:f>Sheet1!$B$1</c:f>
              <c:strCache>
                <c:ptCount val="1"/>
                <c:pt idx="0">
                  <c:v>Judgments</c:v>
                </c:pt>
              </c:strCache>
            </c:strRef>
          </c:tx>
          <c:spPr>
            <a:solidFill>
              <a:srgbClr val="028090"/>
            </a:solidFill>
            <a:effectLst/>
          </c:spPr>
          <c:invertIfNegative val="0"/>
          <c:dLbls>
            <c:numFmt formatCode="#,##0" sourceLinked="0"/>
            <c:txPr>
              <a:bodyPr/>
              <a:lstStyle/>
              <a:p>
                <a:pPr>
                  <a:defRPr b="0" i="0" strike="noStrike" sz="1000" u="none">
                    <a:solidFill>
                      <a:srgbClr val="70898F"/>
                    </a:solidFill>
                    <a:latin typeface="Calibri"/>
                  </a:defRPr>
                </a:pPr>
              </a:p>
            </c:txPr>
            <c:showLegendKey val="0"/>
            <c:showVal val="1"/>
            <c:showCatName val="0"/>
            <c:showSerName val="0"/>
            <c:showPercent val="0"/>
            <c:showBubbleSize val="0"/>
            <c:showLeaderLines val="0"/>
          </c:dLbls>
          <c:cat>
            <c:multiLvlStrRef>
              <c:f>Sheet1!$A$2:$A$7</c:f>
              <c:multiLvlStrCache>
                <c:ptCount val="6"/>
                <c:lvl>
                  <c:pt idx="0">
                    <c:v>0</c:v>
                  </c:pt>
                  <c:pt idx="1">
                    <c:v>1</c:v>
                  </c:pt>
                  <c:pt idx="2">
                    <c:v>2</c:v>
                  </c:pt>
                  <c:pt idx="3">
                    <c:v>3</c:v>
                  </c:pt>
                  <c:pt idx="4">
                    <c:v>4</c:v>
                  </c:pt>
                  <c:pt idx="5">
                    <c:v>5</c:v>
                  </c:pt>
                </c:lvl>
              </c:multiLvlStrCache>
            </c:multiLvlStrRef>
          </c:cat>
          <c:val>
            <c:numRef>
              <c:f>Sheet1!$B$2:$B$7</c:f>
              <c:numCache>
                <c:formatCode>General</c:formatCode>
                <c:ptCount val="6"/>
                <c:pt idx="0">
                  <c:v>621</c:v>
                </c:pt>
                <c:pt idx="1">
                  <c:v>127</c:v>
                </c:pt>
                <c:pt idx="2">
                  <c:v>111</c:v>
                </c:pt>
                <c:pt idx="3">
                  <c:v>79</c:v>
                </c:pt>
                <c:pt idx="4">
                  <c:v>63</c:v>
                </c:pt>
                <c:pt idx="5">
                  <c:v>38</c:v>
                </c:pt>
              </c:numCache>
            </c:numRef>
          </c:val>
        </c:ser>
        <c:dLbls>
          <c:numFmt formatCode="#,##0" sourceLinked="0"/>
          <c:txPr>
            <a:bodyPr/>
            <a:lstStyle/>
            <a:p>
              <a:pPr>
                <a:defRPr b="0" i="0" strike="noStrike" sz="1000" u="none">
                  <a:solidFill>
                    <a:srgbClr val="70898F"/>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0898F"/>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up front: this is an overview, not a deep dive. The subject isn't biology - it's what it takes to run a language model in a loop nobody babysits. Ask them to hold questions to the end, or take them as they come if the group is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the bottleneck is not finding papers. Search already works. The bottleneck is deciding which ones matter, and that is the part nobody has time for. If the group has their own alert fatigue story, invite it here - it buys you attention for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The claim worth making: a lot of teams reach for a chatbot when what they actually have is a high-volume judgment problem, which wants a pipeline instead. Everything after this is one worked example of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demo here, before any architecture - let them wonder how it works. Two things to point at while you're in there: a paper marked as recurring, and a sentence that references last month. Both pay off later. Never demo live without a screenshot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 back to this slide three or four times later - it's the spine of the talk. Worth saying plainly: the search queries are deliberately too broad. Casting a wide net is only affordable because the filter is cheap and good, and that trade is the core design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quick and don't dwell on the plumbing. The one line that matters: the model appears at exactly two places, and everything else is deliberately ordinary code. That sets up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transferable idea in the talk. The right-hand list is all questions a smart colleague could answer and a program cannot. The left-hand list is all things a program does perfectly and a model does approximately. Sorting your problem into those two columns is most of the design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how unglamorous this is: no fine-tuning, no embeddings, no vector database. It's a prompt, a batch, and a number. People consistently over-engineer this step. Mention that scoring runs in parallel and the whole month takes about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story behind the example: this topic was a false-positive machine, dragging in anything that said 'neural network' near the word 'bioreactor'. The fix wasn't a better model or a smarter algorithm - it was one added sentence. Prompt wording is product work, and treating it as config rather than as code buried in a function is what makes it maintainable.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has a labelled dataset for 'papers this specific person should read'. So: read both ends of the distribution by hand, and construct one boundary case whose correct answer your own topic descriptions already state. The big pile of zeros is not a problem - it's the wide net working as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Generalize it for the room: anywhere a model's output feeds something downstream, work out what an omission looks like on the other side. If 'it skipped it' and 'it said no' are indistinguishable, you have a silent quality leak that will never show up in any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this as a genuine lesson, not a humblebrag. We spent real effort on a cost optimization before knowing the cost. Measure first - most of the time at this scale there's nothing there, and then you get to choose on quality instead, which is the better conversation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useful framing: don't pick 'a model' for a system, pick one per step based on what that step actually needs. Filtering is bounded and high-volume; writing is open-ended and low-volume and is the thing the reader actually experiences. Cheapening the second to save a dollar would be a bad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newest and least settled part of the system, so present it as such. The transferable idea is the sandwich: deterministic prep in front, deterministic validation behind, agent judgment in the middle. An agent with a narrow job and checked output is a very different risk profile from an agent given the run of the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usually the part people remember, so don't rush it. All three share a theme: the system was wrong and cheerful about it. None of them threw an error. Pick one to tell properly if time is short - the third one is the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one slowly and then pause. It's the line most likely to survive the walk back to someone's desk, and it applies to plenty of work in the room that has nothing to do with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answers ready. No vector DB: nothing to retrieve over - the task is judging every item in a fixed monthly set, not recalling a few. Accuracy: prompts forbid claims not in the abstract and require flagging thin abstracts, plus the reader is an expert who can vote and comment - but be honest that there is no automated hallucination check, and that's a real gap. Copyright: titles, abstracts and links only, official APIs and RSS, no scraping. And yes, the topic-description-plus-filter pattern ports to any source with an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313A"/>
        </a:solidFill>
      </p:bgPr>
    </p:bg>
    <p:spTree>
      <p:nvGrpSpPr>
        <p:cNvPr id="1" name=""/>
        <p:cNvGrpSpPr/>
        <p:nvPr/>
      </p:nvGrpSpPr>
      <p:grpSpPr>
        <a:xfrm>
          <a:off x="0" y="0"/>
          <a:ext cx="0" cy="0"/>
          <a:chOff x="0" y="0"/>
          <a:chExt cx="0" cy="0"/>
        </a:xfrm>
      </p:grpSpPr>
      <p:sp>
        <p:nvSpPr>
          <p:cNvPr id="2" name="Shape 0"/>
          <p:cNvSpPr/>
          <p:nvPr/>
        </p:nvSpPr>
        <p:spPr>
          <a:xfrm>
            <a:off x="9052560" y="-1371600"/>
            <a:ext cx="4937760" cy="4937760"/>
          </a:xfrm>
          <a:prstGeom prst="ellipse">
            <a:avLst/>
          </a:prstGeom>
          <a:solidFill>
            <a:srgbClr val="0B4550"/>
          </a:solidFill>
          <a:ln w="12700">
            <a:solidFill>
              <a:srgbClr val="0B4550"/>
            </a:solidFill>
            <a:prstDash val="solid"/>
          </a:ln>
        </p:spPr>
      </p:sp>
      <p:sp>
        <p:nvSpPr>
          <p:cNvPr id="3" name="Shape 1"/>
          <p:cNvSpPr/>
          <p:nvPr/>
        </p:nvSpPr>
        <p:spPr>
          <a:xfrm>
            <a:off x="10515600" y="4206240"/>
            <a:ext cx="2377440" cy="2377440"/>
          </a:xfrm>
          <a:prstGeom prst="ellipse">
            <a:avLst/>
          </a:prstGeom>
          <a:solidFill>
            <a:srgbClr val="0B4550"/>
          </a:solidFill>
          <a:ln w="12700">
            <a:solidFill>
              <a:srgbClr val="0B4550"/>
            </a:solidFill>
            <a:prstDash val="solid"/>
          </a:ln>
        </p:spPr>
      </p:sp>
      <p:sp>
        <p:nvSpPr>
          <p:cNvPr id="4" name="Text 2"/>
          <p:cNvSpPr txBox="1"/>
          <p:nvPr/>
        </p:nvSpPr>
        <p:spPr>
          <a:xfrm>
            <a:off x="640080" y="1371600"/>
            <a:ext cx="8229600" cy="365760"/>
          </a:xfrm>
          <a:prstGeom prst="rect">
            <a:avLst/>
          </a:prstGeom>
          <a:noFill/>
          <a:ln/>
        </p:spPr>
        <p:txBody>
          <a:bodyPr wrap="square" lIns="0" tIns="0" rIns="0" bIns="0" rtlCol="0" anchor="ctr"/>
          <a:lstStyle/>
          <a:p>
            <a:pPr indent="0" marL="0">
              <a:buNone/>
            </a:pPr>
            <a:r>
              <a:rPr lang="en-US" sz="1400" b="1" spc="300" kern="0" dirty="0">
                <a:solidFill>
                  <a:srgbClr val="02C39A"/>
                </a:solidFill>
                <a:latin typeface="Calibri" pitchFamily="34" charset="0"/>
                <a:ea typeface="Calibri" pitchFamily="34" charset="-122"/>
                <a:cs typeface="Calibri" pitchFamily="34" charset="-120"/>
              </a:rPr>
              <a:t>CCPSLitReview</a:t>
            </a:r>
            <a:endParaRPr lang="en-US" sz="1400" dirty="0"/>
          </a:p>
        </p:txBody>
      </p:sp>
      <p:sp>
        <p:nvSpPr>
          <p:cNvPr id="5" name="Text 3"/>
          <p:cNvSpPr txBox="1"/>
          <p:nvPr/>
        </p:nvSpPr>
        <p:spPr>
          <a:xfrm>
            <a:off x="640080" y="1874520"/>
            <a:ext cx="8412480" cy="1737360"/>
          </a:xfrm>
          <a:prstGeom prst="rect">
            <a:avLst/>
          </a:prstGeom>
          <a:noFill/>
          <a:ln/>
        </p:spPr>
        <p:txBody>
          <a:bodyPr wrap="square" lIns="0" tIns="0" rIns="0" bIns="0" rtlCol="0" anchor="ctr"/>
          <a:lstStyle/>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Reading 1,900 papers a month</a:t>
            </a:r>
            <a:endParaRPr lang="en-US" sz="4200" dirty="0"/>
          </a:p>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so nobody has to</a:t>
            </a:r>
            <a:endParaRPr lang="en-US" sz="4200" dirty="0"/>
          </a:p>
        </p:txBody>
      </p:sp>
      <p:sp>
        <p:nvSpPr>
          <p:cNvPr id="6" name="Text 4"/>
          <p:cNvSpPr txBox="1"/>
          <p:nvPr/>
        </p:nvSpPr>
        <p:spPr>
          <a:xfrm>
            <a:off x="640080" y="3794760"/>
            <a:ext cx="7863840" cy="822960"/>
          </a:xfrm>
          <a:prstGeom prst="rect">
            <a:avLst/>
          </a:prstGeom>
          <a:noFill/>
          <a:ln/>
        </p:spPr>
        <p:txBody>
          <a:bodyPr wrap="square" lIns="0" tIns="0" rIns="0" bIns="0" rtlCol="0" anchor="ctr"/>
          <a:lstStyle/>
          <a:p>
            <a:pPr indent="0" marL="0">
              <a:lnSpc>
                <a:spcPts val="2600"/>
              </a:lnSpc>
              <a:buNone/>
            </a:pPr>
            <a:r>
              <a:rPr lang="en-US" sz="1700" dirty="0">
                <a:solidFill>
                  <a:srgbClr val="A8C6CB"/>
                </a:solidFill>
                <a:latin typeface="Calibri" pitchFamily="34" charset="0"/>
                <a:ea typeface="Calibri" pitchFamily="34" charset="-122"/>
                <a:cs typeface="Calibri" pitchFamily="34" charset="-120"/>
              </a:rPr>
              <a:t>A small, boring, fully automated system for putting a language model somewhere useful — and what it taught us</a:t>
            </a:r>
            <a:endParaRPr lang="en-US" sz="1700" dirty="0"/>
          </a:p>
        </p:txBody>
      </p:sp>
      <p:sp>
        <p:nvSpPr>
          <p:cNvPr id="7" name="Shape 5"/>
          <p:cNvSpPr/>
          <p:nvPr/>
        </p:nvSpPr>
        <p:spPr>
          <a:xfrm>
            <a:off x="640080" y="4892040"/>
            <a:ext cx="1005840" cy="32004"/>
          </a:xfrm>
          <a:prstGeom prst="rect">
            <a:avLst/>
          </a:prstGeom>
          <a:solidFill>
            <a:srgbClr val="02C39A"/>
          </a:solidFill>
          <a:ln w="12700">
            <a:solidFill>
              <a:srgbClr val="02C39A"/>
            </a:solidFill>
            <a:prstDash val="solid"/>
          </a:ln>
        </p:spPr>
      </p:sp>
      <p:sp>
        <p:nvSpPr>
          <p:cNvPr id="8" name="Text 6"/>
          <p:cNvSpPr txBox="1"/>
          <p:nvPr/>
        </p:nvSpPr>
        <p:spPr>
          <a:xfrm>
            <a:off x="640080" y="5120640"/>
            <a:ext cx="7315200" cy="320040"/>
          </a:xfrm>
          <a:prstGeom prst="rect">
            <a:avLst/>
          </a:prstGeom>
          <a:noFill/>
          <a:ln/>
        </p:spPr>
        <p:txBody>
          <a:bodyPr wrap="square" lIns="0" tIns="0" rIns="0" bIns="0" rtlCol="0" anchor="ctr"/>
          <a:lstStyle/>
          <a:p>
            <a:pPr indent="0" marL="0">
              <a:buNone/>
            </a:pPr>
            <a:r>
              <a:rPr lang="en-US" sz="1300" dirty="0">
                <a:solidFill>
                  <a:srgbClr val="7FA3A9"/>
                </a:solidFill>
                <a:latin typeface="Calibri" pitchFamily="34" charset="0"/>
                <a:ea typeface="Calibri" pitchFamily="34" charset="-122"/>
                <a:cs typeface="Calibri" pitchFamily="34" charset="-120"/>
              </a:rPr>
              <a:t>Internal AI group  ·  overview and lessons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640080" y="786384"/>
            <a:ext cx="10911535" cy="868680"/>
          </a:xfrm>
          <a:prstGeom prst="rect">
            <a:avLst/>
          </a:prstGeom>
          <a:noFill/>
          <a:ln/>
        </p:spPr>
        <p:txBody>
          <a:bodyPr wrap="square" lIns="0" tIns="0" rIns="0" bIns="0" rtlCol="0" anchor="t"/>
          <a:lstStyle/>
          <a:p>
            <a:pPr indent="0" marL="0">
              <a:buNone/>
            </a:pPr>
            <a:r>
              <a:rPr lang="en-US" sz="3200" b="1" dirty="0">
                <a:solidFill>
                  <a:srgbClr val="06313A"/>
                </a:solidFill>
                <a:latin typeface="Cambria" pitchFamily="34" charset="0"/>
                <a:ea typeface="Cambria" pitchFamily="34" charset="-122"/>
                <a:cs typeface="Cambria" pitchFamily="34" charset="-120"/>
              </a:rPr>
              <a:t>One reader. Eleven topics. Far too much to read.</a:t>
            </a:r>
            <a:endParaRPr lang="en-US" sz="3200" dirty="0"/>
          </a:p>
        </p:txBody>
      </p:sp>
      <p:sp>
        <p:nvSpPr>
          <p:cNvPr id="4" name="Shape 2"/>
          <p:cNvSpPr/>
          <p:nvPr/>
        </p:nvSpPr>
        <p:spPr>
          <a:xfrm>
            <a:off x="640080" y="1746504"/>
            <a:ext cx="3454298" cy="1828800"/>
          </a:xfrm>
          <a:prstGeom prst="roundRect">
            <a:avLst>
              <a:gd name="adj" fmla="val 5000"/>
            </a:avLst>
          </a:prstGeom>
          <a:solidFill>
            <a:srgbClr val="EAF3F4"/>
          </a:solidFill>
          <a:ln w="12700">
            <a:solidFill>
              <a:srgbClr val="EAF3F4"/>
            </a:solidFill>
            <a:prstDash val="solid"/>
          </a:ln>
        </p:spPr>
      </p:sp>
      <p:sp>
        <p:nvSpPr>
          <p:cNvPr id="5" name="Text 3"/>
          <p:cNvSpPr txBox="1"/>
          <p:nvPr/>
        </p:nvSpPr>
        <p:spPr>
          <a:xfrm>
            <a:off x="960120" y="1947672"/>
            <a:ext cx="2814218" cy="685800"/>
          </a:xfrm>
          <a:prstGeom prst="rect">
            <a:avLst/>
          </a:prstGeom>
          <a:noFill/>
          <a:ln/>
        </p:spPr>
        <p:txBody>
          <a:bodyPr wrap="square" lIns="0" tIns="0" rIns="0" bIns="0" rtlCol="0" anchor="ctr"/>
          <a:lstStyle/>
          <a:p>
            <a:pPr indent="0" marL="0">
              <a:buNone/>
            </a:pPr>
            <a:r>
              <a:rPr lang="en-US" sz="4000" b="1" dirty="0">
                <a:solidFill>
                  <a:srgbClr val="028090"/>
                </a:solidFill>
                <a:latin typeface="Cambria" pitchFamily="34" charset="0"/>
                <a:ea typeface="Cambria" pitchFamily="34" charset="-122"/>
                <a:cs typeface="Cambria" pitchFamily="34" charset="-120"/>
              </a:rPr>
              <a:t>11</a:t>
            </a:r>
            <a:endParaRPr lang="en-US" sz="4000" dirty="0"/>
          </a:p>
        </p:txBody>
      </p:sp>
      <p:sp>
        <p:nvSpPr>
          <p:cNvPr id="6" name="Text 4"/>
          <p:cNvSpPr txBox="1"/>
          <p:nvPr/>
        </p:nvSpPr>
        <p:spPr>
          <a:xfrm>
            <a:off x="960120" y="2660904"/>
            <a:ext cx="2814218" cy="292608"/>
          </a:xfrm>
          <a:prstGeom prst="rect">
            <a:avLst/>
          </a:prstGeom>
          <a:noFill/>
          <a:ln/>
        </p:spPr>
        <p:txBody>
          <a:bodyPr wrap="square" lIns="0" tIns="0" rIns="0" bIns="0" rtlCol="0" anchor="ctr"/>
          <a:lstStyle/>
          <a:p>
            <a:pPr indent="0" marL="0">
              <a:buNone/>
            </a:pPr>
            <a:r>
              <a:rPr lang="en-US" sz="1500" b="1" dirty="0">
                <a:solidFill>
                  <a:srgbClr val="06313A"/>
                </a:solidFill>
                <a:latin typeface="Calibri" pitchFamily="34" charset="0"/>
                <a:ea typeface="Calibri" pitchFamily="34" charset="-122"/>
                <a:cs typeface="Calibri" pitchFamily="34" charset="-120"/>
              </a:rPr>
              <a:t>topic areas to follow</a:t>
            </a:r>
            <a:endParaRPr lang="en-US" sz="1500" dirty="0"/>
          </a:p>
        </p:txBody>
      </p:sp>
      <p:sp>
        <p:nvSpPr>
          <p:cNvPr id="7" name="Text 5"/>
          <p:cNvSpPr txBox="1"/>
          <p:nvPr/>
        </p:nvSpPr>
        <p:spPr>
          <a:xfrm>
            <a:off x="960120" y="2980944"/>
            <a:ext cx="2814218" cy="502920"/>
          </a:xfrm>
          <a:prstGeom prst="rect">
            <a:avLst/>
          </a:prstGeom>
          <a:noFill/>
          <a:ln/>
        </p:spPr>
        <p:txBody>
          <a:bodyPr wrap="square" lIns="0" tIns="0" rIns="0" bIns="0" rtlCol="0" anchor="ctr"/>
          <a:lstStyle/>
          <a:p>
            <a:pPr indent="0" marL="0">
              <a:lnSpc>
                <a:spcPts val="1500"/>
              </a:lnSpc>
              <a:buNone/>
            </a:pPr>
            <a:r>
              <a:rPr lang="en-US" sz="1200" dirty="0">
                <a:solidFill>
                  <a:srgbClr val="70898F"/>
                </a:solidFill>
                <a:latin typeface="Calibri" pitchFamily="34" charset="0"/>
                <a:ea typeface="Calibri" pitchFamily="34" charset="-122"/>
                <a:cs typeface="Calibri" pitchFamily="34" charset="-120"/>
              </a:rPr>
              <a:t>cell culture, analytics, regulatory, industry news</a:t>
            </a:r>
            <a:endParaRPr lang="en-US" sz="1200" dirty="0"/>
          </a:p>
        </p:txBody>
      </p:sp>
      <p:sp>
        <p:nvSpPr>
          <p:cNvPr id="8" name="Shape 6"/>
          <p:cNvSpPr/>
          <p:nvPr/>
        </p:nvSpPr>
        <p:spPr>
          <a:xfrm>
            <a:off x="4368698" y="1746504"/>
            <a:ext cx="3454298" cy="1828800"/>
          </a:xfrm>
          <a:prstGeom prst="roundRect">
            <a:avLst>
              <a:gd name="adj" fmla="val 5000"/>
            </a:avLst>
          </a:prstGeom>
          <a:solidFill>
            <a:srgbClr val="EAF3F4"/>
          </a:solidFill>
          <a:ln w="12700">
            <a:solidFill>
              <a:srgbClr val="EAF3F4"/>
            </a:solidFill>
            <a:prstDash val="solid"/>
          </a:ln>
        </p:spPr>
      </p:sp>
      <p:sp>
        <p:nvSpPr>
          <p:cNvPr id="9" name="Text 7"/>
          <p:cNvSpPr txBox="1"/>
          <p:nvPr/>
        </p:nvSpPr>
        <p:spPr>
          <a:xfrm>
            <a:off x="4688738" y="1947672"/>
            <a:ext cx="2814218" cy="685800"/>
          </a:xfrm>
          <a:prstGeom prst="rect">
            <a:avLst/>
          </a:prstGeom>
          <a:noFill/>
          <a:ln/>
        </p:spPr>
        <p:txBody>
          <a:bodyPr wrap="square" lIns="0" tIns="0" rIns="0" bIns="0" rtlCol="0" anchor="ctr"/>
          <a:lstStyle/>
          <a:p>
            <a:pPr indent="0" marL="0">
              <a:buNone/>
            </a:pPr>
            <a:r>
              <a:rPr lang="en-US" sz="4000" b="1" dirty="0">
                <a:solidFill>
                  <a:srgbClr val="028090"/>
                </a:solidFill>
                <a:latin typeface="Cambria" pitchFamily="34" charset="0"/>
                <a:ea typeface="Cambria" pitchFamily="34" charset="-122"/>
                <a:cs typeface="Cambria" pitchFamily="34" charset="-120"/>
              </a:rPr>
              <a:t>~1,900</a:t>
            </a:r>
            <a:endParaRPr lang="en-US" sz="4000" dirty="0"/>
          </a:p>
        </p:txBody>
      </p:sp>
      <p:sp>
        <p:nvSpPr>
          <p:cNvPr id="10" name="Text 8"/>
          <p:cNvSpPr txBox="1"/>
          <p:nvPr/>
        </p:nvSpPr>
        <p:spPr>
          <a:xfrm>
            <a:off x="4688738" y="2660904"/>
            <a:ext cx="2814218" cy="292608"/>
          </a:xfrm>
          <a:prstGeom prst="rect">
            <a:avLst/>
          </a:prstGeom>
          <a:noFill/>
          <a:ln/>
        </p:spPr>
        <p:txBody>
          <a:bodyPr wrap="square" lIns="0" tIns="0" rIns="0" bIns="0" rtlCol="0" anchor="ctr"/>
          <a:lstStyle/>
          <a:p>
            <a:pPr indent="0" marL="0">
              <a:buNone/>
            </a:pPr>
            <a:r>
              <a:rPr lang="en-US" sz="1500" b="1" dirty="0">
                <a:solidFill>
                  <a:srgbClr val="06313A"/>
                </a:solidFill>
                <a:latin typeface="Calibri" pitchFamily="34" charset="0"/>
                <a:ea typeface="Calibri" pitchFamily="34" charset="-122"/>
                <a:cs typeface="Calibri" pitchFamily="34" charset="-120"/>
              </a:rPr>
              <a:t>new items every month</a:t>
            </a:r>
            <a:endParaRPr lang="en-US" sz="1500" dirty="0"/>
          </a:p>
        </p:txBody>
      </p:sp>
      <p:sp>
        <p:nvSpPr>
          <p:cNvPr id="11" name="Text 9"/>
          <p:cNvSpPr txBox="1"/>
          <p:nvPr/>
        </p:nvSpPr>
        <p:spPr>
          <a:xfrm>
            <a:off x="4688738" y="2980944"/>
            <a:ext cx="2814218" cy="502920"/>
          </a:xfrm>
          <a:prstGeom prst="rect">
            <a:avLst/>
          </a:prstGeom>
          <a:noFill/>
          <a:ln/>
        </p:spPr>
        <p:txBody>
          <a:bodyPr wrap="square" lIns="0" tIns="0" rIns="0" bIns="0" rtlCol="0" anchor="ctr"/>
          <a:lstStyle/>
          <a:p>
            <a:pPr indent="0" marL="0">
              <a:lnSpc>
                <a:spcPts val="1500"/>
              </a:lnSpc>
              <a:buNone/>
            </a:pPr>
            <a:r>
              <a:rPr lang="en-US" sz="1200" dirty="0">
                <a:solidFill>
                  <a:srgbClr val="70898F"/>
                </a:solidFill>
                <a:latin typeface="Calibri" pitchFamily="34" charset="0"/>
                <a:ea typeface="Calibri" pitchFamily="34" charset="-122"/>
                <a:cs typeface="Calibri" pitchFamily="34" charset="-120"/>
              </a:rPr>
              <a:t>journals, preprints, FDA, trade press</a:t>
            </a:r>
            <a:endParaRPr lang="en-US" sz="1200" dirty="0"/>
          </a:p>
        </p:txBody>
      </p:sp>
      <p:sp>
        <p:nvSpPr>
          <p:cNvPr id="12" name="Shape 10"/>
          <p:cNvSpPr/>
          <p:nvPr/>
        </p:nvSpPr>
        <p:spPr>
          <a:xfrm>
            <a:off x="8097317" y="1746504"/>
            <a:ext cx="3454298" cy="1828800"/>
          </a:xfrm>
          <a:prstGeom prst="roundRect">
            <a:avLst>
              <a:gd name="adj" fmla="val 5000"/>
            </a:avLst>
          </a:prstGeom>
          <a:solidFill>
            <a:srgbClr val="EAF3F4"/>
          </a:solidFill>
          <a:ln w="12700">
            <a:solidFill>
              <a:srgbClr val="EAF3F4"/>
            </a:solidFill>
            <a:prstDash val="solid"/>
          </a:ln>
        </p:spPr>
      </p:sp>
      <p:sp>
        <p:nvSpPr>
          <p:cNvPr id="13" name="Text 11"/>
          <p:cNvSpPr txBox="1"/>
          <p:nvPr/>
        </p:nvSpPr>
        <p:spPr>
          <a:xfrm>
            <a:off x="8417357" y="1947672"/>
            <a:ext cx="2814218" cy="685800"/>
          </a:xfrm>
          <a:prstGeom prst="rect">
            <a:avLst/>
          </a:prstGeom>
          <a:noFill/>
          <a:ln/>
        </p:spPr>
        <p:txBody>
          <a:bodyPr wrap="square" lIns="0" tIns="0" rIns="0" bIns="0" rtlCol="0" anchor="ctr"/>
          <a:lstStyle/>
          <a:p>
            <a:pPr indent="0" marL="0">
              <a:buNone/>
            </a:pPr>
            <a:r>
              <a:rPr lang="en-US" sz="4000" b="1" dirty="0">
                <a:solidFill>
                  <a:srgbClr val="028090"/>
                </a:solidFill>
                <a:latin typeface="Cambria" pitchFamily="34" charset="0"/>
                <a:ea typeface="Cambria" pitchFamily="34" charset="-122"/>
                <a:cs typeface="Cambria" pitchFamily="34" charset="-120"/>
              </a:rPr>
              <a:t>~60</a:t>
            </a:r>
            <a:endParaRPr lang="en-US" sz="4000" dirty="0"/>
          </a:p>
        </p:txBody>
      </p:sp>
      <p:sp>
        <p:nvSpPr>
          <p:cNvPr id="14" name="Text 12"/>
          <p:cNvSpPr txBox="1"/>
          <p:nvPr/>
        </p:nvSpPr>
        <p:spPr>
          <a:xfrm>
            <a:off x="8417357" y="2660904"/>
            <a:ext cx="2814218" cy="292608"/>
          </a:xfrm>
          <a:prstGeom prst="rect">
            <a:avLst/>
          </a:prstGeom>
          <a:noFill/>
          <a:ln/>
        </p:spPr>
        <p:txBody>
          <a:bodyPr wrap="square" lIns="0" tIns="0" rIns="0" bIns="0" rtlCol="0" anchor="ctr"/>
          <a:lstStyle/>
          <a:p>
            <a:pPr indent="0" marL="0">
              <a:buNone/>
            </a:pPr>
            <a:r>
              <a:rPr lang="en-US" sz="1500" b="1" dirty="0">
                <a:solidFill>
                  <a:srgbClr val="06313A"/>
                </a:solidFill>
                <a:latin typeface="Calibri" pitchFamily="34" charset="0"/>
                <a:ea typeface="Calibri" pitchFamily="34" charset="-122"/>
                <a:cs typeface="Calibri" pitchFamily="34" charset="-120"/>
              </a:rPr>
              <a:t>actually worth reading</a:t>
            </a:r>
            <a:endParaRPr lang="en-US" sz="1500" dirty="0"/>
          </a:p>
        </p:txBody>
      </p:sp>
      <p:sp>
        <p:nvSpPr>
          <p:cNvPr id="15" name="Text 13"/>
          <p:cNvSpPr txBox="1"/>
          <p:nvPr/>
        </p:nvSpPr>
        <p:spPr>
          <a:xfrm>
            <a:off x="8417357" y="2980944"/>
            <a:ext cx="2814218" cy="502920"/>
          </a:xfrm>
          <a:prstGeom prst="rect">
            <a:avLst/>
          </a:prstGeom>
          <a:noFill/>
          <a:ln/>
        </p:spPr>
        <p:txBody>
          <a:bodyPr wrap="square" lIns="0" tIns="0" rIns="0" bIns="0" rtlCol="0" anchor="ctr"/>
          <a:lstStyle/>
          <a:p>
            <a:pPr indent="0" marL="0">
              <a:lnSpc>
                <a:spcPts val="1500"/>
              </a:lnSpc>
              <a:buNone/>
            </a:pPr>
            <a:r>
              <a:rPr lang="en-US" sz="1200" dirty="0">
                <a:solidFill>
                  <a:srgbClr val="70898F"/>
                </a:solidFill>
                <a:latin typeface="Calibri" pitchFamily="34" charset="0"/>
                <a:ea typeface="Calibri" pitchFamily="34" charset="-122"/>
                <a:cs typeface="Calibri" pitchFamily="34" charset="-120"/>
              </a:rPr>
              <a:t>the ones that change what you do on Monday</a:t>
            </a:r>
            <a:endParaRPr lang="en-US" sz="1200" dirty="0"/>
          </a:p>
        </p:txBody>
      </p:sp>
      <p:sp>
        <p:nvSpPr>
          <p:cNvPr id="16" name="Text 14"/>
          <p:cNvSpPr txBox="1"/>
          <p:nvPr/>
        </p:nvSpPr>
        <p:spPr>
          <a:xfrm>
            <a:off x="640080" y="3986784"/>
            <a:ext cx="10911535" cy="731520"/>
          </a:xfrm>
          <a:prstGeom prst="rect">
            <a:avLst/>
          </a:prstGeom>
          <a:noFill/>
          <a:ln/>
        </p:spPr>
        <p:txBody>
          <a:bodyPr wrap="square" lIns="0" tIns="0" rIns="0" bIns="0" rtlCol="0" anchor="ctr"/>
          <a:lstStyle/>
          <a:p>
            <a:pPr indent="0" marL="0">
              <a:lnSpc>
                <a:spcPts val="2400"/>
              </a:lnSpc>
              <a:buNone/>
            </a:pPr>
            <a:r>
              <a:rPr lang="en-US" sz="1700" b="1" dirty="0">
                <a:solidFill>
                  <a:srgbClr val="06313A"/>
                </a:solidFill>
                <a:latin typeface="Calibri" pitchFamily="34" charset="0"/>
                <a:ea typeface="Calibri" pitchFamily="34" charset="-122"/>
                <a:cs typeface="Calibri" pitchFamily="34" charset="-120"/>
              </a:rPr>
              <a:t>Every literature alert fails the same way. </a:t>
            </a:r>
            <a:pPr indent="0" marL="0">
              <a:lnSpc>
                <a:spcPts val="2400"/>
              </a:lnSpc>
              <a:buNone/>
            </a:pPr>
            <a:r>
              <a:rPr lang="en-US" sz="1700" dirty="0">
                <a:solidFill>
                  <a:srgbClr val="33474D"/>
                </a:solidFill>
                <a:latin typeface="Calibri" pitchFamily="34" charset="0"/>
                <a:ea typeface="Calibri" pitchFamily="34" charset="-122"/>
                <a:cs typeface="Calibri" pitchFamily="34" charset="-120"/>
              </a:rPr>
              <a:t>Not because it misses things — because it sends too many, so you stop opening it.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313A"/>
        </a:solidFill>
      </p:bgPr>
    </p:bg>
    <p:spTree>
      <p:nvGrpSpPr>
        <p:cNvPr id="1" name=""/>
        <p:cNvGrpSpPr/>
        <p:nvPr/>
      </p:nvGrpSpPr>
      <p:grpSpPr>
        <a:xfrm>
          <a:off x="0" y="0"/>
          <a:ext cx="0" cy="0"/>
          <a:chOff x="0" y="0"/>
          <a:chExt cx="0" cy="0"/>
        </a:xfrm>
      </p:grpSpPr>
      <p:sp>
        <p:nvSpPr>
          <p:cNvPr id="2" name="Shape 0"/>
          <p:cNvSpPr/>
          <p:nvPr/>
        </p:nvSpPr>
        <p:spPr>
          <a:xfrm>
            <a:off x="-1280160" y="3840480"/>
            <a:ext cx="4206240" cy="4206240"/>
          </a:xfrm>
          <a:prstGeom prst="ellipse">
            <a:avLst/>
          </a:prstGeom>
          <a:solidFill>
            <a:srgbClr val="0B4550"/>
          </a:solidFill>
          <a:ln w="12700">
            <a:solidFill>
              <a:srgbClr val="0B4550"/>
            </a:solidFill>
            <a:prstDash val="solid"/>
          </a:ln>
        </p:spPr>
      </p:sp>
      <p:sp>
        <p:nvSpPr>
          <p:cNvPr id="3" name="Text 1"/>
          <p:cNvSpPr txBox="1"/>
          <p:nvPr/>
        </p:nvSpPr>
        <p:spPr>
          <a:xfrm>
            <a:off x="640080" y="1234440"/>
            <a:ext cx="10911535" cy="274320"/>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The reframe</a:t>
            </a:r>
            <a:endParaRPr lang="en-US" sz="1200" dirty="0"/>
          </a:p>
        </p:txBody>
      </p:sp>
      <p:sp>
        <p:nvSpPr>
          <p:cNvPr id="4" name="Text 2"/>
          <p:cNvSpPr txBox="1"/>
          <p:nvPr/>
        </p:nvSpPr>
        <p:spPr>
          <a:xfrm>
            <a:off x="640080" y="1783080"/>
            <a:ext cx="10424160" cy="2377440"/>
          </a:xfrm>
          <a:prstGeom prst="rect">
            <a:avLst/>
          </a:prstGeom>
          <a:noFill/>
          <a:ln/>
        </p:spPr>
        <p:txBody>
          <a:bodyPr wrap="square" lIns="0" tIns="0" rIns="0" bIns="0" rtlCol="0" anchor="ctr"/>
          <a:lstStyle/>
          <a:p>
            <a:pPr indent="0" marL="0">
              <a:lnSpc>
                <a:spcPts val="5200"/>
              </a:lnSpc>
              <a:buNone/>
            </a:pPr>
            <a:r>
              <a:rPr lang="en-US" sz="3400" b="1" dirty="0">
                <a:solidFill>
                  <a:srgbClr val="FFFFFF"/>
                </a:solidFill>
                <a:latin typeface="Cambria" pitchFamily="34" charset="0"/>
                <a:ea typeface="Cambria" pitchFamily="34" charset="-122"/>
                <a:cs typeface="Cambria" pitchFamily="34" charset="-120"/>
              </a:rPr>
              <a:t>This isn't a search problem.</a:t>
            </a:r>
            <a:endParaRPr lang="en-US" sz="3400" dirty="0"/>
          </a:p>
          <a:p>
            <a:pPr indent="0" marL="0">
              <a:lnSpc>
                <a:spcPts val="5200"/>
              </a:lnSpc>
              <a:buNone/>
            </a:pPr>
            <a:r>
              <a:rPr lang="en-US" sz="3400" b="1" dirty="0">
                <a:solidFill>
                  <a:srgbClr val="FFFFFF"/>
                </a:solidFill>
                <a:latin typeface="Cambria" pitchFamily="34" charset="0"/>
                <a:ea typeface="Cambria" pitchFamily="34" charset="-122"/>
                <a:cs typeface="Cambria" pitchFamily="34" charset="-120"/>
              </a:rPr>
              <a:t>It's a judgment problem — at a volume</a:t>
            </a:r>
            <a:endParaRPr lang="en-US" sz="3400" dirty="0"/>
          </a:p>
          <a:p>
            <a:pPr indent="0" marL="0">
              <a:lnSpc>
                <a:spcPts val="5200"/>
              </a:lnSpc>
              <a:buNone/>
            </a:pPr>
            <a:r>
              <a:rPr lang="en-US" sz="3400" b="1" dirty="0">
                <a:solidFill>
                  <a:srgbClr val="FFFFFF"/>
                </a:solidFill>
                <a:latin typeface="Cambria" pitchFamily="34" charset="0"/>
                <a:ea typeface="Cambria" pitchFamily="34" charset="-122"/>
                <a:cs typeface="Cambria" pitchFamily="34" charset="-120"/>
              </a:rPr>
              <a:t>no human will keep up with.</a:t>
            </a:r>
            <a:endParaRPr lang="en-US" sz="3400" dirty="0"/>
          </a:p>
        </p:txBody>
      </p:sp>
      <p:sp>
        <p:nvSpPr>
          <p:cNvPr id="5" name="Text 3"/>
          <p:cNvSpPr txBox="1"/>
          <p:nvPr/>
        </p:nvSpPr>
        <p:spPr>
          <a:xfrm>
            <a:off x="640080" y="4572000"/>
            <a:ext cx="9509760" cy="822960"/>
          </a:xfrm>
          <a:prstGeom prst="rect">
            <a:avLst/>
          </a:prstGeom>
          <a:noFill/>
          <a:ln/>
        </p:spPr>
        <p:txBody>
          <a:bodyPr wrap="square" lIns="0" tIns="0" rIns="0" bIns="0" rtlCol="0" anchor="ctr"/>
          <a:lstStyle/>
          <a:p>
            <a:pPr indent="0" marL="0">
              <a:lnSpc>
                <a:spcPts val="2400"/>
              </a:lnSpc>
              <a:buNone/>
            </a:pPr>
            <a:r>
              <a:rPr lang="en-US" sz="1600" dirty="0">
                <a:solidFill>
                  <a:srgbClr val="A8C6CB"/>
                </a:solidFill>
                <a:latin typeface="Calibri" pitchFamily="34" charset="0"/>
                <a:ea typeface="Calibri" pitchFamily="34" charset="-122"/>
                <a:cs typeface="Calibri" pitchFamily="34" charset="-120"/>
              </a:rPr>
              <a:t>That shape — lots of small judgments, each one easy for an expert, all of them together impossible — is the shape most “AI for X” problems actually have.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THE OUTPUT</a:t>
            </a:r>
            <a:endParaRPr lang="en-US" sz="1200" dirty="0"/>
          </a:p>
        </p:txBody>
      </p:sp>
      <p:sp>
        <p:nvSpPr>
          <p:cNvPr id="3" name="Text 1"/>
          <p:cNvSpPr txBox="1"/>
          <p:nvPr/>
        </p:nvSpPr>
        <p:spPr>
          <a:xfrm>
            <a:off x="640080" y="786384"/>
            <a:ext cx="10911535" cy="868680"/>
          </a:xfrm>
          <a:prstGeom prst="rect">
            <a:avLst/>
          </a:prstGeom>
          <a:noFill/>
          <a:ln/>
        </p:spPr>
        <p:txBody>
          <a:bodyPr wrap="square" lIns="0" tIns="0" rIns="0" bIns="0" rtlCol="0" anchor="t"/>
          <a:lstStyle/>
          <a:p>
            <a:pPr indent="0" marL="0">
              <a:buNone/>
            </a:pPr>
            <a:r>
              <a:rPr lang="en-US" sz="3200" b="1" dirty="0">
                <a:solidFill>
                  <a:srgbClr val="06313A"/>
                </a:solidFill>
                <a:latin typeface="Cambria" pitchFamily="34" charset="0"/>
                <a:ea typeface="Cambria" pitchFamily="34" charset="-122"/>
                <a:cs typeface="Cambria" pitchFamily="34" charset="-120"/>
              </a:rPr>
              <a:t>One page a month, written for one reader</a:t>
            </a:r>
            <a:endParaRPr lang="en-US" sz="3200" dirty="0"/>
          </a:p>
        </p:txBody>
      </p:sp>
      <p:sp>
        <p:nvSpPr>
          <p:cNvPr id="4" name="Shape 2"/>
          <p:cNvSpPr/>
          <p:nvPr/>
        </p:nvSpPr>
        <p:spPr>
          <a:xfrm>
            <a:off x="640080" y="1801368"/>
            <a:ext cx="475488" cy="475488"/>
          </a:xfrm>
          <a:prstGeom prst="ellipse">
            <a:avLst/>
          </a:prstGeom>
          <a:solidFill>
            <a:srgbClr val="028090"/>
          </a:solidFill>
          <a:ln w="12700">
            <a:solidFill>
              <a:srgbClr val="028090"/>
            </a:solidFill>
            <a:prstDash val="solid"/>
          </a:ln>
        </p:spPr>
      </p:sp>
      <p:sp>
        <p:nvSpPr>
          <p:cNvPr id="5" name="Text 3"/>
          <p:cNvSpPr txBox="1"/>
          <p:nvPr/>
        </p:nvSpPr>
        <p:spPr>
          <a:xfrm>
            <a:off x="640080" y="18013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353312" y="1764792"/>
            <a:ext cx="3749040" cy="329184"/>
          </a:xfrm>
          <a:prstGeom prst="rect">
            <a:avLst/>
          </a:prstGeom>
          <a:noFill/>
          <a:ln/>
        </p:spPr>
        <p:txBody>
          <a:bodyPr wrap="square" lIns="0" tIns="0" rIns="0" bIns="0" rtlCol="0" anchor="ctr"/>
          <a:lstStyle/>
          <a:p>
            <a:pPr indent="0" marL="0">
              <a:buNone/>
            </a:pPr>
            <a:r>
              <a:rPr lang="en-US" sz="1600" b="1" dirty="0">
                <a:solidFill>
                  <a:srgbClr val="06313A"/>
                </a:solidFill>
                <a:latin typeface="Calibri" pitchFamily="34" charset="0"/>
                <a:ea typeface="Calibri" pitchFamily="34" charset="-122"/>
                <a:cs typeface="Calibri" pitchFamily="34" charset="-120"/>
              </a:rPr>
              <a:t>An opening paragraph</a:t>
            </a:r>
            <a:endParaRPr lang="en-US" sz="1600" dirty="0"/>
          </a:p>
        </p:txBody>
      </p:sp>
      <p:sp>
        <p:nvSpPr>
          <p:cNvPr id="7" name="Text 5"/>
          <p:cNvSpPr txBox="1"/>
          <p:nvPr/>
        </p:nvSpPr>
        <p:spPr>
          <a:xfrm>
            <a:off x="1353312" y="2093976"/>
            <a:ext cx="7223760" cy="384048"/>
          </a:xfrm>
          <a:prstGeom prst="rect">
            <a:avLst/>
          </a:prstGeom>
          <a:noFill/>
          <a:ln/>
        </p:spPr>
        <p:txBody>
          <a:bodyPr wrap="square" lIns="0" tIns="0" rIns="0" bIns="0" rtlCol="0" anchor="ctr"/>
          <a:lstStyle/>
          <a:p>
            <a:pPr indent="0" marL="0">
              <a:lnSpc>
                <a:spcPts val="1700"/>
              </a:lnSpc>
              <a:buNone/>
            </a:pPr>
            <a:r>
              <a:rPr lang="en-US" sz="1300" dirty="0">
                <a:solidFill>
                  <a:srgbClr val="70898F"/>
                </a:solidFill>
                <a:latin typeface="Calibri" pitchFamily="34" charset="0"/>
                <a:ea typeface="Calibri" pitchFamily="34" charset="-122"/>
                <a:cs typeface="Calibri" pitchFamily="34" charset="-120"/>
              </a:rPr>
              <a:t>What the month was actually about — the throughline, not a list.</a:t>
            </a:r>
            <a:endParaRPr lang="en-US" sz="1300" dirty="0"/>
          </a:p>
        </p:txBody>
      </p:sp>
      <p:sp>
        <p:nvSpPr>
          <p:cNvPr id="8" name="Shape 6"/>
          <p:cNvSpPr/>
          <p:nvPr/>
        </p:nvSpPr>
        <p:spPr>
          <a:xfrm>
            <a:off x="640080" y="2788920"/>
            <a:ext cx="475488" cy="475488"/>
          </a:xfrm>
          <a:prstGeom prst="ellipse">
            <a:avLst/>
          </a:prstGeom>
          <a:solidFill>
            <a:srgbClr val="028090"/>
          </a:solidFill>
          <a:ln w="12700">
            <a:solidFill>
              <a:srgbClr val="028090"/>
            </a:solidFill>
            <a:prstDash val="solid"/>
          </a:ln>
        </p:spPr>
      </p:sp>
      <p:sp>
        <p:nvSpPr>
          <p:cNvPr id="9" name="Text 7"/>
          <p:cNvSpPr txBox="1"/>
          <p:nvPr/>
        </p:nvSpPr>
        <p:spPr>
          <a:xfrm>
            <a:off x="640080" y="278892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353312" y="2752344"/>
            <a:ext cx="3749040" cy="329184"/>
          </a:xfrm>
          <a:prstGeom prst="rect">
            <a:avLst/>
          </a:prstGeom>
          <a:noFill/>
          <a:ln/>
        </p:spPr>
        <p:txBody>
          <a:bodyPr wrap="square" lIns="0" tIns="0" rIns="0" bIns="0" rtlCol="0" anchor="ctr"/>
          <a:lstStyle/>
          <a:p>
            <a:pPr indent="0" marL="0">
              <a:buNone/>
            </a:pPr>
            <a:r>
              <a:rPr lang="en-US" sz="1600" b="1" dirty="0">
                <a:solidFill>
                  <a:srgbClr val="06313A"/>
                </a:solidFill>
                <a:latin typeface="Calibri" pitchFamily="34" charset="0"/>
                <a:ea typeface="Calibri" pitchFamily="34" charset="-122"/>
                <a:cs typeface="Calibri" pitchFamily="34" charset="-120"/>
              </a:rPr>
              <a:t>A Top 5 across every topic</a:t>
            </a:r>
            <a:endParaRPr lang="en-US" sz="1600" dirty="0"/>
          </a:p>
        </p:txBody>
      </p:sp>
      <p:sp>
        <p:nvSpPr>
          <p:cNvPr id="11" name="Text 9"/>
          <p:cNvSpPr txBox="1"/>
          <p:nvPr/>
        </p:nvSpPr>
        <p:spPr>
          <a:xfrm>
            <a:off x="1353312" y="3081528"/>
            <a:ext cx="7223760" cy="384048"/>
          </a:xfrm>
          <a:prstGeom prst="rect">
            <a:avLst/>
          </a:prstGeom>
          <a:noFill/>
          <a:ln/>
        </p:spPr>
        <p:txBody>
          <a:bodyPr wrap="square" lIns="0" tIns="0" rIns="0" bIns="0" rtlCol="0" anchor="ctr"/>
          <a:lstStyle/>
          <a:p>
            <a:pPr indent="0" marL="0">
              <a:lnSpc>
                <a:spcPts val="1700"/>
              </a:lnSpc>
              <a:buNone/>
            </a:pPr>
            <a:r>
              <a:rPr lang="en-US" sz="1300" dirty="0">
                <a:solidFill>
                  <a:srgbClr val="70898F"/>
                </a:solidFill>
                <a:latin typeface="Calibri" pitchFamily="34" charset="0"/>
                <a:ea typeface="Calibri" pitchFamily="34" charset="-122"/>
                <a:cs typeface="Calibri" pitchFamily="34" charset="-120"/>
              </a:rPr>
              <a:t>If you read nothing else, read these, and here's why each one.</a:t>
            </a:r>
            <a:endParaRPr lang="en-US" sz="1300" dirty="0"/>
          </a:p>
        </p:txBody>
      </p:sp>
      <p:sp>
        <p:nvSpPr>
          <p:cNvPr id="12" name="Shape 10"/>
          <p:cNvSpPr/>
          <p:nvPr/>
        </p:nvSpPr>
        <p:spPr>
          <a:xfrm>
            <a:off x="640080" y="3776472"/>
            <a:ext cx="475488" cy="475488"/>
          </a:xfrm>
          <a:prstGeom prst="ellipse">
            <a:avLst/>
          </a:prstGeom>
          <a:solidFill>
            <a:srgbClr val="028090"/>
          </a:solidFill>
          <a:ln w="12700">
            <a:solidFill>
              <a:srgbClr val="028090"/>
            </a:solidFill>
            <a:prstDash val="solid"/>
          </a:ln>
        </p:spPr>
      </p:sp>
      <p:sp>
        <p:nvSpPr>
          <p:cNvPr id="13" name="Text 11"/>
          <p:cNvSpPr txBox="1"/>
          <p:nvPr/>
        </p:nvSpPr>
        <p:spPr>
          <a:xfrm>
            <a:off x="640080" y="3776472"/>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353312" y="3739896"/>
            <a:ext cx="3749040" cy="329184"/>
          </a:xfrm>
          <a:prstGeom prst="rect">
            <a:avLst/>
          </a:prstGeom>
          <a:noFill/>
          <a:ln/>
        </p:spPr>
        <p:txBody>
          <a:bodyPr wrap="square" lIns="0" tIns="0" rIns="0" bIns="0" rtlCol="0" anchor="ctr"/>
          <a:lstStyle/>
          <a:p>
            <a:pPr indent="0" marL="0">
              <a:buNone/>
            </a:pPr>
            <a:r>
              <a:rPr lang="en-US" sz="1600" b="1" dirty="0">
                <a:solidFill>
                  <a:srgbClr val="06313A"/>
                </a:solidFill>
                <a:latin typeface="Calibri" pitchFamily="34" charset="0"/>
                <a:ea typeface="Calibri" pitchFamily="34" charset="-122"/>
                <a:cs typeface="Calibri" pitchFamily="34" charset="-120"/>
              </a:rPr>
              <a:t>Per-topic sections</a:t>
            </a:r>
            <a:endParaRPr lang="en-US" sz="1600" dirty="0"/>
          </a:p>
        </p:txBody>
      </p:sp>
      <p:sp>
        <p:nvSpPr>
          <p:cNvPr id="15" name="Text 13"/>
          <p:cNvSpPr txBox="1"/>
          <p:nvPr/>
        </p:nvSpPr>
        <p:spPr>
          <a:xfrm>
            <a:off x="1353312" y="4069080"/>
            <a:ext cx="7223760" cy="384048"/>
          </a:xfrm>
          <a:prstGeom prst="rect">
            <a:avLst/>
          </a:prstGeom>
          <a:noFill/>
          <a:ln/>
        </p:spPr>
        <p:txBody>
          <a:bodyPr wrap="square" lIns="0" tIns="0" rIns="0" bIns="0" rtlCol="0" anchor="ctr"/>
          <a:lstStyle/>
          <a:p>
            <a:pPr indent="0" marL="0">
              <a:lnSpc>
                <a:spcPts val="1700"/>
              </a:lnSpc>
              <a:buNone/>
            </a:pPr>
            <a:r>
              <a:rPr lang="en-US" sz="1300" dirty="0">
                <a:solidFill>
                  <a:srgbClr val="70898F"/>
                </a:solidFill>
                <a:latin typeface="Calibri" pitchFamily="34" charset="0"/>
                <a:ea typeface="Calibri" pitchFamily="34" charset="-122"/>
                <a:cs typeface="Calibri" pitchFamily="34" charset="-120"/>
              </a:rPr>
              <a:t>A short narrative, then each paper: what was done, and why it matters to you.</a:t>
            </a:r>
            <a:endParaRPr lang="en-US" sz="1300" dirty="0"/>
          </a:p>
        </p:txBody>
      </p:sp>
      <p:sp>
        <p:nvSpPr>
          <p:cNvPr id="16" name="Shape 14"/>
          <p:cNvSpPr/>
          <p:nvPr/>
        </p:nvSpPr>
        <p:spPr>
          <a:xfrm>
            <a:off x="640080" y="4764024"/>
            <a:ext cx="475488" cy="475488"/>
          </a:xfrm>
          <a:prstGeom prst="ellipse">
            <a:avLst/>
          </a:prstGeom>
          <a:solidFill>
            <a:srgbClr val="028090"/>
          </a:solidFill>
          <a:ln w="12700">
            <a:solidFill>
              <a:srgbClr val="028090"/>
            </a:solidFill>
            <a:prstDash val="solid"/>
          </a:ln>
        </p:spPr>
      </p:sp>
      <p:sp>
        <p:nvSpPr>
          <p:cNvPr id="17" name="Text 15"/>
          <p:cNvSpPr txBox="1"/>
          <p:nvPr/>
        </p:nvSpPr>
        <p:spPr>
          <a:xfrm>
            <a:off x="640080" y="4764024"/>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353312" y="4727448"/>
            <a:ext cx="3749040" cy="329184"/>
          </a:xfrm>
          <a:prstGeom prst="rect">
            <a:avLst/>
          </a:prstGeom>
          <a:noFill/>
          <a:ln/>
        </p:spPr>
        <p:txBody>
          <a:bodyPr wrap="square" lIns="0" tIns="0" rIns="0" bIns="0" rtlCol="0" anchor="ctr"/>
          <a:lstStyle/>
          <a:p>
            <a:pPr indent="0" marL="0">
              <a:buNone/>
            </a:pPr>
            <a:r>
              <a:rPr lang="en-US" sz="1600" b="1" dirty="0">
                <a:solidFill>
                  <a:srgbClr val="06313A"/>
                </a:solidFill>
                <a:latin typeface="Calibri" pitchFamily="34" charset="0"/>
                <a:ea typeface="Calibri" pitchFamily="34" charset="-122"/>
                <a:cs typeface="Calibri" pitchFamily="34" charset="-120"/>
              </a:rPr>
              <a:t>An archive, and memory</a:t>
            </a:r>
            <a:endParaRPr lang="en-US" sz="1600" dirty="0"/>
          </a:p>
        </p:txBody>
      </p:sp>
      <p:sp>
        <p:nvSpPr>
          <p:cNvPr id="19" name="Text 17"/>
          <p:cNvSpPr txBox="1"/>
          <p:nvPr/>
        </p:nvSpPr>
        <p:spPr>
          <a:xfrm>
            <a:off x="1353312" y="5056632"/>
            <a:ext cx="7223760" cy="384048"/>
          </a:xfrm>
          <a:prstGeom prst="rect">
            <a:avLst/>
          </a:prstGeom>
          <a:noFill/>
          <a:ln/>
        </p:spPr>
        <p:txBody>
          <a:bodyPr wrap="square" lIns="0" tIns="0" rIns="0" bIns="0" rtlCol="0" anchor="ctr"/>
          <a:lstStyle/>
          <a:p>
            <a:pPr indent="0" marL="0">
              <a:lnSpc>
                <a:spcPts val="1700"/>
              </a:lnSpc>
              <a:buNone/>
            </a:pPr>
            <a:r>
              <a:rPr lang="en-US" sz="1300" dirty="0">
                <a:solidFill>
                  <a:srgbClr val="70898F"/>
                </a:solidFill>
                <a:latin typeface="Calibri" pitchFamily="34" charset="0"/>
                <a:ea typeface="Calibri" pitchFamily="34" charset="-122"/>
                <a:cs typeface="Calibri" pitchFamily="34" charset="-120"/>
              </a:rPr>
              <a:t>Months link to each other — “this follows last month's negative result.”</a:t>
            </a:r>
            <a:endParaRPr lang="en-US" sz="1300" dirty="0"/>
          </a:p>
        </p:txBody>
      </p:sp>
      <p:sp>
        <p:nvSpPr>
          <p:cNvPr id="20" name="Shape 18"/>
          <p:cNvSpPr/>
          <p:nvPr/>
        </p:nvSpPr>
        <p:spPr>
          <a:xfrm>
            <a:off x="8366760" y="1746504"/>
            <a:ext cx="3182112" cy="2871216"/>
          </a:xfrm>
          <a:prstGeom prst="roundRect">
            <a:avLst>
              <a:gd name="adj" fmla="val 3185"/>
            </a:avLst>
          </a:prstGeom>
          <a:solidFill>
            <a:srgbClr val="EAF3F4"/>
          </a:solidFill>
          <a:ln w="12700">
            <a:solidFill>
              <a:srgbClr val="EAF3F4"/>
            </a:solidFill>
            <a:prstDash val="solid"/>
          </a:ln>
        </p:spPr>
      </p:sp>
      <p:sp>
        <p:nvSpPr>
          <p:cNvPr id="21" name="Text 19"/>
          <p:cNvSpPr txBox="1"/>
          <p:nvPr/>
        </p:nvSpPr>
        <p:spPr>
          <a:xfrm>
            <a:off x="8641080" y="2066544"/>
            <a:ext cx="2651760" cy="320040"/>
          </a:xfrm>
          <a:prstGeom prst="rect">
            <a:avLst/>
          </a:prstGeom>
          <a:noFill/>
          <a:ln/>
        </p:spPr>
        <p:txBody>
          <a:bodyPr wrap="square" lIns="0" tIns="0" rIns="0" bIns="0" rtlCol="0" anchor="ctr"/>
          <a:lstStyle/>
          <a:p>
            <a:pPr indent="0" marL="0">
              <a:buNone/>
            </a:pPr>
            <a:r>
              <a:rPr lang="en-US" sz="2000" b="1" dirty="0">
                <a:solidFill>
                  <a:srgbClr val="06313A"/>
                </a:solidFill>
                <a:latin typeface="Cambria" pitchFamily="34" charset="0"/>
                <a:ea typeface="Cambria" pitchFamily="34" charset="-122"/>
                <a:cs typeface="Cambria" pitchFamily="34" charset="-120"/>
              </a:rPr>
              <a:t>Live demo</a:t>
            </a:r>
            <a:endParaRPr lang="en-US" sz="2000" dirty="0"/>
          </a:p>
        </p:txBody>
      </p:sp>
      <p:sp>
        <p:nvSpPr>
          <p:cNvPr id="22" name="Text 20"/>
          <p:cNvSpPr txBox="1"/>
          <p:nvPr/>
        </p:nvSpPr>
        <p:spPr>
          <a:xfrm>
            <a:off x="8641080" y="2496312"/>
            <a:ext cx="2651760" cy="1371600"/>
          </a:xfrm>
          <a:prstGeom prst="rect">
            <a:avLst/>
          </a:prstGeom>
          <a:noFill/>
          <a:ln/>
        </p:spPr>
        <p:txBody>
          <a:bodyPr wrap="square" lIns="0" tIns="0" rIns="0" bIns="0" rtlCol="0" anchor="ctr"/>
          <a:lstStyle/>
          <a:p>
            <a:pPr indent="0" marL="0">
              <a:lnSpc>
                <a:spcPts val="1800"/>
              </a:lnSpc>
              <a:buNone/>
            </a:pPr>
            <a:r>
              <a:rPr lang="en-US" sz="1300" dirty="0">
                <a:solidFill>
                  <a:srgbClr val="33474D"/>
                </a:solidFill>
                <a:latin typeface="Calibri" pitchFamily="34" charset="0"/>
                <a:ea typeface="Calibri" pitchFamily="34" charset="-122"/>
                <a:cs typeface="Calibri" pitchFamily="34" charset="-120"/>
              </a:rPr>
              <a:t>Show the real site here — latest month, one topic section, the archive, and the footer that reports which sources worked.</a:t>
            </a:r>
            <a:endParaRPr lang="en-US" sz="1300" dirty="0"/>
          </a:p>
        </p:txBody>
      </p:sp>
      <p:sp>
        <p:nvSpPr>
          <p:cNvPr id="23" name="Text 21"/>
          <p:cNvSpPr txBox="1"/>
          <p:nvPr/>
        </p:nvSpPr>
        <p:spPr>
          <a:xfrm>
            <a:off x="8641080" y="4032504"/>
            <a:ext cx="2651760" cy="365760"/>
          </a:xfrm>
          <a:prstGeom prst="rect">
            <a:avLst/>
          </a:prstGeom>
          <a:noFill/>
          <a:ln/>
        </p:spPr>
        <p:txBody>
          <a:bodyPr wrap="square" lIns="0" tIns="0" rIns="0" bIns="0" rtlCol="0" anchor="ctr"/>
          <a:lstStyle/>
          <a:p>
            <a:pPr indent="0" marL="0">
              <a:buNone/>
            </a:pPr>
            <a:r>
              <a:rPr lang="en-US" sz="1100" i="1" dirty="0">
                <a:solidFill>
                  <a:srgbClr val="70898F"/>
                </a:solidFill>
                <a:latin typeface="Calibri" pitchFamily="34" charset="0"/>
                <a:ea typeface="Calibri" pitchFamily="34" charset="-122"/>
                <a:cs typeface="Calibri" pitchFamily="34" charset="-120"/>
              </a:rPr>
              <a:t>Have a screenshot as backup.</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IN NUMBERS</a:t>
            </a:r>
            <a:endParaRPr lang="en-US" sz="1200" dirty="0"/>
          </a:p>
        </p:txBody>
      </p:sp>
      <p:sp>
        <p:nvSpPr>
          <p:cNvPr id="3" name="Text 1"/>
          <p:cNvSpPr txBox="1"/>
          <p:nvPr/>
        </p:nvSpPr>
        <p:spPr>
          <a:xfrm>
            <a:off x="640080" y="786384"/>
            <a:ext cx="10911535" cy="868680"/>
          </a:xfrm>
          <a:prstGeom prst="rect">
            <a:avLst/>
          </a:prstGeom>
          <a:noFill/>
          <a:ln/>
        </p:spPr>
        <p:txBody>
          <a:bodyPr wrap="square" lIns="0" tIns="0" rIns="0" bIns="0" rtlCol="0" anchor="t"/>
          <a:lstStyle/>
          <a:p>
            <a:pPr indent="0" marL="0">
              <a:buNone/>
            </a:pPr>
            <a:r>
              <a:rPr lang="en-US" sz="3200" b="1" dirty="0">
                <a:solidFill>
                  <a:srgbClr val="06313A"/>
                </a:solidFill>
                <a:latin typeface="Cambria" pitchFamily="34" charset="0"/>
                <a:ea typeface="Cambria" pitchFamily="34" charset="-122"/>
                <a:cs typeface="Cambria" pitchFamily="34" charset="-120"/>
              </a:rPr>
              <a:t>What one month looks like end to end</a:t>
            </a:r>
            <a:endParaRPr lang="en-US" sz="3200" dirty="0"/>
          </a:p>
        </p:txBody>
      </p:sp>
      <p:sp>
        <p:nvSpPr>
          <p:cNvPr id="4" name="Shape 2"/>
          <p:cNvSpPr/>
          <p:nvPr/>
        </p:nvSpPr>
        <p:spPr>
          <a:xfrm>
            <a:off x="632308" y="1746504"/>
            <a:ext cx="1965960" cy="2148840"/>
          </a:xfrm>
          <a:prstGeom prst="roundRect">
            <a:avLst>
              <a:gd name="adj" fmla="val 4651"/>
            </a:avLst>
          </a:prstGeom>
          <a:solidFill>
            <a:srgbClr val="EAF3F4"/>
          </a:solidFill>
          <a:ln w="12700">
            <a:solidFill>
              <a:srgbClr val="EAF3F4"/>
            </a:solidFill>
            <a:prstDash val="solid"/>
          </a:ln>
        </p:spPr>
      </p:sp>
      <p:sp>
        <p:nvSpPr>
          <p:cNvPr id="5" name="Text 3"/>
          <p:cNvSpPr txBox="1"/>
          <p:nvPr/>
        </p:nvSpPr>
        <p:spPr>
          <a:xfrm>
            <a:off x="796900" y="2002536"/>
            <a:ext cx="1636776" cy="566928"/>
          </a:xfrm>
          <a:prstGeom prst="rect">
            <a:avLst/>
          </a:prstGeom>
          <a:noFill/>
          <a:ln/>
        </p:spPr>
        <p:txBody>
          <a:bodyPr wrap="square" lIns="0" tIns="0" rIns="0" bIns="0" rtlCol="0" anchor="ctr"/>
          <a:lstStyle/>
          <a:p>
            <a:pPr algn="ctr" indent="0" marL="0">
              <a:buNone/>
            </a:pPr>
            <a:r>
              <a:rPr lang="en-US" sz="2800" b="1" dirty="0">
                <a:solidFill>
                  <a:srgbClr val="028090"/>
                </a:solidFill>
                <a:latin typeface="Cambria" pitchFamily="34" charset="0"/>
                <a:ea typeface="Cambria" pitchFamily="34" charset="-122"/>
                <a:cs typeface="Cambria" pitchFamily="34" charset="-120"/>
              </a:rPr>
              <a:t>1,899</a:t>
            </a:r>
            <a:endParaRPr lang="en-US" sz="2800" dirty="0"/>
          </a:p>
        </p:txBody>
      </p:sp>
      <p:sp>
        <p:nvSpPr>
          <p:cNvPr id="6" name="Text 4"/>
          <p:cNvSpPr txBox="1"/>
          <p:nvPr/>
        </p:nvSpPr>
        <p:spPr>
          <a:xfrm>
            <a:off x="796900" y="2615184"/>
            <a:ext cx="1636776" cy="292608"/>
          </a:xfrm>
          <a:prstGeom prst="rect">
            <a:avLst/>
          </a:prstGeom>
          <a:noFill/>
          <a:ln/>
        </p:spPr>
        <p:txBody>
          <a:bodyPr wrap="square" lIns="0" tIns="0" rIns="0" bIns="0" rtlCol="0" anchor="ctr"/>
          <a:lstStyle/>
          <a:p>
            <a:pPr algn="ctr" indent="0" marL="0">
              <a:buNone/>
            </a:pPr>
            <a:r>
              <a:rPr lang="en-US" sz="1400" b="1" dirty="0">
                <a:solidFill>
                  <a:srgbClr val="06313A"/>
                </a:solidFill>
                <a:latin typeface="Calibri" pitchFamily="34" charset="0"/>
                <a:ea typeface="Calibri" pitchFamily="34" charset="-122"/>
                <a:cs typeface="Calibri" pitchFamily="34" charset="-120"/>
              </a:rPr>
              <a:t>collected</a:t>
            </a:r>
            <a:endParaRPr lang="en-US" sz="1400" dirty="0"/>
          </a:p>
        </p:txBody>
      </p:sp>
      <p:sp>
        <p:nvSpPr>
          <p:cNvPr id="7" name="Text 5"/>
          <p:cNvSpPr txBox="1"/>
          <p:nvPr/>
        </p:nvSpPr>
        <p:spPr>
          <a:xfrm>
            <a:off x="796900" y="2971800"/>
            <a:ext cx="1636776" cy="731520"/>
          </a:xfrm>
          <a:prstGeom prst="rect">
            <a:avLst/>
          </a:prstGeom>
          <a:noFill/>
          <a:ln/>
        </p:spPr>
        <p:txBody>
          <a:bodyPr wrap="square" lIns="0" tIns="0" rIns="0" bIns="0" rtlCol="0" anchor="ctr"/>
          <a:lstStyle/>
          <a:p>
            <a:pPr algn="ctr" indent="0" marL="0">
              <a:lnSpc>
                <a:spcPts val="1500"/>
              </a:lnSpc>
              <a:buNone/>
            </a:pPr>
            <a:r>
              <a:rPr lang="en-US" sz="1150" dirty="0">
                <a:solidFill>
                  <a:srgbClr val="70898F"/>
                </a:solidFill>
                <a:latin typeface="Calibri" pitchFamily="34" charset="0"/>
                <a:ea typeface="Calibri" pitchFamily="34" charset="-122"/>
                <a:cs typeface="Calibri" pitchFamily="34" charset="-120"/>
              </a:rPr>
              <a:t>six sources,</a:t>
            </a:r>
            <a:endParaRPr lang="en-US" sz="1150" dirty="0"/>
          </a:p>
          <a:p>
            <a:pPr algn="ctr" indent="0" marL="0">
              <a:lnSpc>
                <a:spcPts val="1500"/>
              </a:lnSpc>
              <a:buNone/>
            </a:pPr>
            <a:r>
              <a:rPr lang="en-US" sz="1150" dirty="0">
                <a:solidFill>
                  <a:srgbClr val="70898F"/>
                </a:solidFill>
                <a:latin typeface="Calibri" pitchFamily="34" charset="0"/>
                <a:ea typeface="Calibri" pitchFamily="34" charset="-122"/>
                <a:cs typeface="Calibri" pitchFamily="34" charset="-120"/>
              </a:rPr>
              <a:t>deliberately wide</a:t>
            </a:r>
            <a:endParaRPr lang="en-US" sz="1150" dirty="0"/>
          </a:p>
        </p:txBody>
      </p:sp>
      <p:sp>
        <p:nvSpPr>
          <p:cNvPr id="8" name="Text 6"/>
          <p:cNvSpPr txBox="1"/>
          <p:nvPr/>
        </p:nvSpPr>
        <p:spPr>
          <a:xfrm>
            <a:off x="2598268" y="2432304"/>
            <a:ext cx="274320" cy="457200"/>
          </a:xfrm>
          <a:prstGeom prst="rect">
            <a:avLst/>
          </a:prstGeom>
          <a:noFill/>
          <a:ln/>
        </p:spPr>
        <p:txBody>
          <a:bodyPr wrap="square" lIns="0" tIns="0" rIns="0" bIns="0" rtlCol="0" anchor="ctr"/>
          <a:lstStyle/>
          <a:p>
            <a:pPr algn="ctr" indent="0" marL="0">
              <a:buNone/>
            </a:pPr>
            <a:r>
              <a:rPr lang="en-US" sz="2200" b="1" dirty="0">
                <a:solidFill>
                  <a:srgbClr val="B5CFD3"/>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2872588" y="1746504"/>
            <a:ext cx="1965960" cy="2148840"/>
          </a:xfrm>
          <a:prstGeom prst="roundRect">
            <a:avLst>
              <a:gd name="adj" fmla="val 4651"/>
            </a:avLst>
          </a:prstGeom>
          <a:solidFill>
            <a:srgbClr val="EAF3F4"/>
          </a:solidFill>
          <a:ln w="12700">
            <a:solidFill>
              <a:srgbClr val="EAF3F4"/>
            </a:solidFill>
            <a:prstDash val="solid"/>
          </a:ln>
        </p:spPr>
      </p:sp>
      <p:sp>
        <p:nvSpPr>
          <p:cNvPr id="10" name="Text 8"/>
          <p:cNvSpPr txBox="1"/>
          <p:nvPr/>
        </p:nvSpPr>
        <p:spPr>
          <a:xfrm>
            <a:off x="3037180" y="2002536"/>
            <a:ext cx="1636776" cy="566928"/>
          </a:xfrm>
          <a:prstGeom prst="rect">
            <a:avLst/>
          </a:prstGeom>
          <a:noFill/>
          <a:ln/>
        </p:spPr>
        <p:txBody>
          <a:bodyPr wrap="square" lIns="0" tIns="0" rIns="0" bIns="0" rtlCol="0" anchor="ctr"/>
          <a:lstStyle/>
          <a:p>
            <a:pPr algn="ctr" indent="0" marL="0">
              <a:buNone/>
            </a:pPr>
            <a:r>
              <a:rPr lang="en-US" sz="2800" b="1" dirty="0">
                <a:solidFill>
                  <a:srgbClr val="028090"/>
                </a:solidFill>
                <a:latin typeface="Cambria" pitchFamily="34" charset="0"/>
                <a:ea typeface="Cambria" pitchFamily="34" charset="-122"/>
                <a:cs typeface="Cambria" pitchFamily="34" charset="-120"/>
              </a:rPr>
              <a:t>754</a:t>
            </a:r>
            <a:endParaRPr lang="en-US" sz="2800" dirty="0"/>
          </a:p>
        </p:txBody>
      </p:sp>
      <p:sp>
        <p:nvSpPr>
          <p:cNvPr id="11" name="Text 9"/>
          <p:cNvSpPr txBox="1"/>
          <p:nvPr/>
        </p:nvSpPr>
        <p:spPr>
          <a:xfrm>
            <a:off x="3037180" y="2615184"/>
            <a:ext cx="1636776" cy="292608"/>
          </a:xfrm>
          <a:prstGeom prst="rect">
            <a:avLst/>
          </a:prstGeom>
          <a:noFill/>
          <a:ln/>
        </p:spPr>
        <p:txBody>
          <a:bodyPr wrap="square" lIns="0" tIns="0" rIns="0" bIns="0" rtlCol="0" anchor="ctr"/>
          <a:lstStyle/>
          <a:p>
            <a:pPr algn="ctr" indent="0" marL="0">
              <a:buNone/>
            </a:pPr>
            <a:r>
              <a:rPr lang="en-US" sz="1400" b="1" dirty="0">
                <a:solidFill>
                  <a:srgbClr val="06313A"/>
                </a:solidFill>
                <a:latin typeface="Calibri" pitchFamily="34" charset="0"/>
                <a:ea typeface="Calibri" pitchFamily="34" charset="-122"/>
                <a:cs typeface="Calibri" pitchFamily="34" charset="-120"/>
              </a:rPr>
              <a:t>unique papers</a:t>
            </a:r>
            <a:endParaRPr lang="en-US" sz="1400" dirty="0"/>
          </a:p>
        </p:txBody>
      </p:sp>
      <p:sp>
        <p:nvSpPr>
          <p:cNvPr id="12" name="Text 10"/>
          <p:cNvSpPr txBox="1"/>
          <p:nvPr/>
        </p:nvSpPr>
        <p:spPr>
          <a:xfrm>
            <a:off x="3037180" y="2971800"/>
            <a:ext cx="1636776" cy="731520"/>
          </a:xfrm>
          <a:prstGeom prst="rect">
            <a:avLst/>
          </a:prstGeom>
          <a:noFill/>
          <a:ln/>
        </p:spPr>
        <p:txBody>
          <a:bodyPr wrap="square" lIns="0" tIns="0" rIns="0" bIns="0" rtlCol="0" anchor="ctr"/>
          <a:lstStyle/>
          <a:p>
            <a:pPr algn="ctr" indent="0" marL="0">
              <a:lnSpc>
                <a:spcPts val="1500"/>
              </a:lnSpc>
              <a:buNone/>
            </a:pPr>
            <a:r>
              <a:rPr lang="en-US" sz="1150" dirty="0">
                <a:solidFill>
                  <a:srgbClr val="70898F"/>
                </a:solidFill>
                <a:latin typeface="Calibri" pitchFamily="34" charset="0"/>
                <a:ea typeface="Calibri" pitchFamily="34" charset="-122"/>
                <a:cs typeface="Calibri" pitchFamily="34" charset="-120"/>
              </a:rPr>
              <a:t>the same paper</a:t>
            </a:r>
            <a:endParaRPr lang="en-US" sz="1150" dirty="0"/>
          </a:p>
          <a:p>
            <a:pPr algn="ctr" indent="0" marL="0">
              <a:lnSpc>
                <a:spcPts val="1500"/>
              </a:lnSpc>
              <a:buNone/>
            </a:pPr>
            <a:r>
              <a:rPr lang="en-US" sz="1150" dirty="0">
                <a:solidFill>
                  <a:srgbClr val="70898F"/>
                </a:solidFill>
                <a:latin typeface="Calibri" pitchFamily="34" charset="0"/>
                <a:ea typeface="Calibri" pitchFamily="34" charset="-122"/>
                <a:cs typeface="Calibri" pitchFamily="34" charset="-120"/>
              </a:rPr>
              <a:t>found many ways</a:t>
            </a:r>
            <a:endParaRPr lang="en-US" sz="1150" dirty="0"/>
          </a:p>
        </p:txBody>
      </p:sp>
      <p:sp>
        <p:nvSpPr>
          <p:cNvPr id="13" name="Text 11"/>
          <p:cNvSpPr txBox="1"/>
          <p:nvPr/>
        </p:nvSpPr>
        <p:spPr>
          <a:xfrm>
            <a:off x="4838548" y="2432304"/>
            <a:ext cx="274320" cy="457200"/>
          </a:xfrm>
          <a:prstGeom prst="rect">
            <a:avLst/>
          </a:prstGeom>
          <a:noFill/>
          <a:ln/>
        </p:spPr>
        <p:txBody>
          <a:bodyPr wrap="square" lIns="0" tIns="0" rIns="0" bIns="0" rtlCol="0" anchor="ctr"/>
          <a:lstStyle/>
          <a:p>
            <a:pPr algn="ctr" indent="0" marL="0">
              <a:buNone/>
            </a:pPr>
            <a:r>
              <a:rPr lang="en-US" sz="2200" b="1" dirty="0">
                <a:solidFill>
                  <a:srgbClr val="B5CFD3"/>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5112868" y="1746504"/>
            <a:ext cx="1965960" cy="2148840"/>
          </a:xfrm>
          <a:prstGeom prst="roundRect">
            <a:avLst>
              <a:gd name="adj" fmla="val 4651"/>
            </a:avLst>
          </a:prstGeom>
          <a:solidFill>
            <a:srgbClr val="EAF3F4"/>
          </a:solidFill>
          <a:ln w="12700">
            <a:solidFill>
              <a:srgbClr val="EAF3F4"/>
            </a:solidFill>
            <a:prstDash val="solid"/>
          </a:ln>
        </p:spPr>
      </p:sp>
      <p:sp>
        <p:nvSpPr>
          <p:cNvPr id="15" name="Text 13"/>
          <p:cNvSpPr txBox="1"/>
          <p:nvPr/>
        </p:nvSpPr>
        <p:spPr>
          <a:xfrm>
            <a:off x="5277460" y="2002536"/>
            <a:ext cx="1636776" cy="566928"/>
          </a:xfrm>
          <a:prstGeom prst="rect">
            <a:avLst/>
          </a:prstGeom>
          <a:noFill/>
          <a:ln/>
        </p:spPr>
        <p:txBody>
          <a:bodyPr wrap="square" lIns="0" tIns="0" rIns="0" bIns="0" rtlCol="0" anchor="ctr"/>
          <a:lstStyle/>
          <a:p>
            <a:pPr algn="ctr" indent="0" marL="0">
              <a:buNone/>
            </a:pPr>
            <a:r>
              <a:rPr lang="en-US" sz="2800" b="1" dirty="0">
                <a:solidFill>
                  <a:srgbClr val="028090"/>
                </a:solidFill>
                <a:latin typeface="Cambria" pitchFamily="34" charset="0"/>
                <a:ea typeface="Cambria" pitchFamily="34" charset="-122"/>
                <a:cs typeface="Cambria" pitchFamily="34" charset="-120"/>
              </a:rPr>
              <a:t>1,039</a:t>
            </a:r>
            <a:endParaRPr lang="en-US" sz="2800" dirty="0"/>
          </a:p>
        </p:txBody>
      </p:sp>
      <p:sp>
        <p:nvSpPr>
          <p:cNvPr id="16" name="Text 14"/>
          <p:cNvSpPr txBox="1"/>
          <p:nvPr/>
        </p:nvSpPr>
        <p:spPr>
          <a:xfrm>
            <a:off x="5277460" y="2615184"/>
            <a:ext cx="1636776" cy="292608"/>
          </a:xfrm>
          <a:prstGeom prst="rect">
            <a:avLst/>
          </a:prstGeom>
          <a:noFill/>
          <a:ln/>
        </p:spPr>
        <p:txBody>
          <a:bodyPr wrap="square" lIns="0" tIns="0" rIns="0" bIns="0" rtlCol="0" anchor="ctr"/>
          <a:lstStyle/>
          <a:p>
            <a:pPr algn="ctr" indent="0" marL="0">
              <a:buNone/>
            </a:pPr>
            <a:r>
              <a:rPr lang="en-US" sz="1400" b="1" dirty="0">
                <a:solidFill>
                  <a:srgbClr val="06313A"/>
                </a:solidFill>
                <a:latin typeface="Calibri" pitchFamily="34" charset="0"/>
                <a:ea typeface="Calibri" pitchFamily="34" charset="-122"/>
                <a:cs typeface="Calibri" pitchFamily="34" charset="-120"/>
              </a:rPr>
              <a:t>judgments</a:t>
            </a:r>
            <a:endParaRPr lang="en-US" sz="1400" dirty="0"/>
          </a:p>
        </p:txBody>
      </p:sp>
      <p:sp>
        <p:nvSpPr>
          <p:cNvPr id="17" name="Text 15"/>
          <p:cNvSpPr txBox="1"/>
          <p:nvPr/>
        </p:nvSpPr>
        <p:spPr>
          <a:xfrm>
            <a:off x="5277460" y="2971800"/>
            <a:ext cx="1636776" cy="731520"/>
          </a:xfrm>
          <a:prstGeom prst="rect">
            <a:avLst/>
          </a:prstGeom>
          <a:noFill/>
          <a:ln/>
        </p:spPr>
        <p:txBody>
          <a:bodyPr wrap="square" lIns="0" tIns="0" rIns="0" bIns="0" rtlCol="0" anchor="ctr"/>
          <a:lstStyle/>
          <a:p>
            <a:pPr algn="ctr" indent="0" marL="0">
              <a:lnSpc>
                <a:spcPts val="1500"/>
              </a:lnSpc>
              <a:buNone/>
            </a:pPr>
            <a:r>
              <a:rPr lang="en-US" sz="1150" dirty="0">
                <a:solidFill>
                  <a:srgbClr val="70898F"/>
                </a:solidFill>
                <a:latin typeface="Calibri" pitchFamily="34" charset="0"/>
                <a:ea typeface="Calibri" pitchFamily="34" charset="-122"/>
                <a:cs typeface="Calibri" pitchFamily="34" charset="-120"/>
              </a:rPr>
              <a:t>each paper judged</a:t>
            </a:r>
            <a:endParaRPr lang="en-US" sz="1150" dirty="0"/>
          </a:p>
          <a:p>
            <a:pPr algn="ctr" indent="0" marL="0">
              <a:lnSpc>
                <a:spcPts val="1500"/>
              </a:lnSpc>
              <a:buNone/>
            </a:pPr>
            <a:r>
              <a:rPr lang="en-US" sz="1150" dirty="0">
                <a:solidFill>
                  <a:srgbClr val="70898F"/>
                </a:solidFill>
                <a:latin typeface="Calibri" pitchFamily="34" charset="0"/>
                <a:ea typeface="Calibri" pitchFamily="34" charset="-122"/>
                <a:cs typeface="Calibri" pitchFamily="34" charset="-120"/>
              </a:rPr>
              <a:t>against each topic</a:t>
            </a:r>
            <a:endParaRPr lang="en-US" sz="1150" dirty="0"/>
          </a:p>
        </p:txBody>
      </p:sp>
      <p:sp>
        <p:nvSpPr>
          <p:cNvPr id="18" name="Text 16"/>
          <p:cNvSpPr txBox="1"/>
          <p:nvPr/>
        </p:nvSpPr>
        <p:spPr>
          <a:xfrm>
            <a:off x="7078828" y="2432304"/>
            <a:ext cx="274320" cy="457200"/>
          </a:xfrm>
          <a:prstGeom prst="rect">
            <a:avLst/>
          </a:prstGeom>
          <a:noFill/>
          <a:ln/>
        </p:spPr>
        <p:txBody>
          <a:bodyPr wrap="square" lIns="0" tIns="0" rIns="0" bIns="0" rtlCol="0" anchor="ctr"/>
          <a:lstStyle/>
          <a:p>
            <a:pPr algn="ctr" indent="0" marL="0">
              <a:buNone/>
            </a:pPr>
            <a:r>
              <a:rPr lang="en-US" sz="2200" b="1" dirty="0">
                <a:solidFill>
                  <a:srgbClr val="B5CFD3"/>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7353148" y="1746504"/>
            <a:ext cx="1965960" cy="2148840"/>
          </a:xfrm>
          <a:prstGeom prst="roundRect">
            <a:avLst>
              <a:gd name="adj" fmla="val 4651"/>
            </a:avLst>
          </a:prstGeom>
          <a:solidFill>
            <a:srgbClr val="EAF3F4"/>
          </a:solidFill>
          <a:ln w="12700">
            <a:solidFill>
              <a:srgbClr val="EAF3F4"/>
            </a:solidFill>
            <a:prstDash val="solid"/>
          </a:ln>
        </p:spPr>
      </p:sp>
      <p:sp>
        <p:nvSpPr>
          <p:cNvPr id="20" name="Text 18"/>
          <p:cNvSpPr txBox="1"/>
          <p:nvPr/>
        </p:nvSpPr>
        <p:spPr>
          <a:xfrm>
            <a:off x="7517740" y="2002536"/>
            <a:ext cx="1636776" cy="566928"/>
          </a:xfrm>
          <a:prstGeom prst="rect">
            <a:avLst/>
          </a:prstGeom>
          <a:noFill/>
          <a:ln/>
        </p:spPr>
        <p:txBody>
          <a:bodyPr wrap="square" lIns="0" tIns="0" rIns="0" bIns="0" rtlCol="0" anchor="ctr"/>
          <a:lstStyle/>
          <a:p>
            <a:pPr algn="ctr" indent="0" marL="0">
              <a:buNone/>
            </a:pPr>
            <a:r>
              <a:rPr lang="en-US" sz="2800" b="1" dirty="0">
                <a:solidFill>
                  <a:srgbClr val="028090"/>
                </a:solidFill>
                <a:latin typeface="Cambria" pitchFamily="34" charset="0"/>
                <a:ea typeface="Cambria" pitchFamily="34" charset="-122"/>
                <a:cs typeface="Cambria" pitchFamily="34" charset="-120"/>
              </a:rPr>
              <a:t>180</a:t>
            </a:r>
            <a:endParaRPr lang="en-US" sz="2800" dirty="0"/>
          </a:p>
        </p:txBody>
      </p:sp>
      <p:sp>
        <p:nvSpPr>
          <p:cNvPr id="21" name="Text 19"/>
          <p:cNvSpPr txBox="1"/>
          <p:nvPr/>
        </p:nvSpPr>
        <p:spPr>
          <a:xfrm>
            <a:off x="7517740" y="2615184"/>
            <a:ext cx="1636776" cy="292608"/>
          </a:xfrm>
          <a:prstGeom prst="rect">
            <a:avLst/>
          </a:prstGeom>
          <a:noFill/>
          <a:ln/>
        </p:spPr>
        <p:txBody>
          <a:bodyPr wrap="square" lIns="0" tIns="0" rIns="0" bIns="0" rtlCol="0" anchor="ctr"/>
          <a:lstStyle/>
          <a:p>
            <a:pPr algn="ctr" indent="0" marL="0">
              <a:buNone/>
            </a:pPr>
            <a:r>
              <a:rPr lang="en-US" sz="1400" b="1" dirty="0">
                <a:solidFill>
                  <a:srgbClr val="06313A"/>
                </a:solidFill>
                <a:latin typeface="Calibri" pitchFamily="34" charset="0"/>
                <a:ea typeface="Calibri" pitchFamily="34" charset="-122"/>
                <a:cs typeface="Calibri" pitchFamily="34" charset="-120"/>
              </a:rPr>
              <a:t>kept</a:t>
            </a:r>
            <a:endParaRPr lang="en-US" sz="1400" dirty="0"/>
          </a:p>
        </p:txBody>
      </p:sp>
      <p:sp>
        <p:nvSpPr>
          <p:cNvPr id="22" name="Text 20"/>
          <p:cNvSpPr txBox="1"/>
          <p:nvPr/>
        </p:nvSpPr>
        <p:spPr>
          <a:xfrm>
            <a:off x="7517740" y="2971800"/>
            <a:ext cx="1636776" cy="731520"/>
          </a:xfrm>
          <a:prstGeom prst="rect">
            <a:avLst/>
          </a:prstGeom>
          <a:noFill/>
          <a:ln/>
        </p:spPr>
        <p:txBody>
          <a:bodyPr wrap="square" lIns="0" tIns="0" rIns="0" bIns="0" rtlCol="0" anchor="ctr"/>
          <a:lstStyle/>
          <a:p>
            <a:pPr algn="ctr" indent="0" marL="0">
              <a:lnSpc>
                <a:spcPts val="1500"/>
              </a:lnSpc>
              <a:buNone/>
            </a:pPr>
            <a:r>
              <a:rPr lang="en-US" sz="1150" dirty="0">
                <a:solidFill>
                  <a:srgbClr val="70898F"/>
                </a:solidFill>
                <a:latin typeface="Calibri" pitchFamily="34" charset="0"/>
                <a:ea typeface="Calibri" pitchFamily="34" charset="-122"/>
                <a:cs typeface="Calibri" pitchFamily="34" charset="-120"/>
              </a:rPr>
              <a:t>scored 3 or better</a:t>
            </a:r>
            <a:endParaRPr lang="en-US" sz="1150" dirty="0"/>
          </a:p>
          <a:p>
            <a:pPr algn="ctr" indent="0" marL="0">
              <a:lnSpc>
                <a:spcPts val="1500"/>
              </a:lnSpc>
              <a:buNone/>
            </a:pPr>
            <a:r>
              <a:rPr lang="en-US" sz="1150" dirty="0">
                <a:solidFill>
                  <a:srgbClr val="70898F"/>
                </a:solidFill>
                <a:latin typeface="Calibri" pitchFamily="34" charset="0"/>
                <a:ea typeface="Calibri" pitchFamily="34" charset="-122"/>
                <a:cs typeface="Calibri" pitchFamily="34" charset="-120"/>
              </a:rPr>
              <a:t>out of 5</a:t>
            </a:r>
            <a:endParaRPr lang="en-US" sz="1150" dirty="0"/>
          </a:p>
        </p:txBody>
      </p:sp>
      <p:sp>
        <p:nvSpPr>
          <p:cNvPr id="23" name="Text 21"/>
          <p:cNvSpPr txBox="1"/>
          <p:nvPr/>
        </p:nvSpPr>
        <p:spPr>
          <a:xfrm>
            <a:off x="9319108" y="2432304"/>
            <a:ext cx="274320" cy="457200"/>
          </a:xfrm>
          <a:prstGeom prst="rect">
            <a:avLst/>
          </a:prstGeom>
          <a:noFill/>
          <a:ln/>
        </p:spPr>
        <p:txBody>
          <a:bodyPr wrap="square" lIns="0" tIns="0" rIns="0" bIns="0" rtlCol="0" anchor="ctr"/>
          <a:lstStyle/>
          <a:p>
            <a:pPr algn="ctr" indent="0" marL="0">
              <a:buNone/>
            </a:pPr>
            <a:r>
              <a:rPr lang="en-US" sz="2200" b="1" dirty="0">
                <a:solidFill>
                  <a:srgbClr val="B5CFD3"/>
                </a:solidFill>
                <a:latin typeface="Calibri" pitchFamily="34" charset="0"/>
                <a:ea typeface="Calibri" pitchFamily="34" charset="-122"/>
                <a:cs typeface="Calibri" pitchFamily="34" charset="-120"/>
              </a:rPr>
              <a:t>›</a:t>
            </a:r>
            <a:endParaRPr lang="en-US" sz="2200" dirty="0"/>
          </a:p>
        </p:txBody>
      </p:sp>
      <p:sp>
        <p:nvSpPr>
          <p:cNvPr id="24" name="Shape 22"/>
          <p:cNvSpPr/>
          <p:nvPr/>
        </p:nvSpPr>
        <p:spPr>
          <a:xfrm>
            <a:off x="9593428" y="1746504"/>
            <a:ext cx="1965960" cy="2148840"/>
          </a:xfrm>
          <a:prstGeom prst="roundRect">
            <a:avLst>
              <a:gd name="adj" fmla="val 4651"/>
            </a:avLst>
          </a:prstGeom>
          <a:solidFill>
            <a:srgbClr val="028090"/>
          </a:solidFill>
          <a:ln w="12700">
            <a:solidFill>
              <a:srgbClr val="028090"/>
            </a:solidFill>
            <a:prstDash val="solid"/>
          </a:ln>
        </p:spPr>
      </p:sp>
      <p:sp>
        <p:nvSpPr>
          <p:cNvPr id="25" name="Text 23"/>
          <p:cNvSpPr txBox="1"/>
          <p:nvPr/>
        </p:nvSpPr>
        <p:spPr>
          <a:xfrm>
            <a:off x="9758020" y="2002536"/>
            <a:ext cx="1636776" cy="566928"/>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112</a:t>
            </a:r>
            <a:endParaRPr lang="en-US" sz="2800" dirty="0"/>
          </a:p>
        </p:txBody>
      </p:sp>
      <p:sp>
        <p:nvSpPr>
          <p:cNvPr id="26" name="Text 24"/>
          <p:cNvSpPr txBox="1"/>
          <p:nvPr/>
        </p:nvSpPr>
        <p:spPr>
          <a:xfrm>
            <a:off x="9758020" y="2615184"/>
            <a:ext cx="1636776"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published</a:t>
            </a:r>
            <a:endParaRPr lang="en-US" sz="1400" dirty="0"/>
          </a:p>
        </p:txBody>
      </p:sp>
      <p:sp>
        <p:nvSpPr>
          <p:cNvPr id="27" name="Text 25"/>
          <p:cNvSpPr txBox="1"/>
          <p:nvPr/>
        </p:nvSpPr>
        <p:spPr>
          <a:xfrm>
            <a:off x="9758020" y="2971800"/>
            <a:ext cx="1636776" cy="731520"/>
          </a:xfrm>
          <a:prstGeom prst="rect">
            <a:avLst/>
          </a:prstGeom>
          <a:noFill/>
          <a:ln/>
        </p:spPr>
        <p:txBody>
          <a:bodyPr wrap="square" lIns="0" tIns="0" rIns="0" bIns="0" rtlCol="0" anchor="ctr"/>
          <a:lstStyle/>
          <a:p>
            <a:pPr algn="ctr" indent="0" marL="0">
              <a:lnSpc>
                <a:spcPts val="1500"/>
              </a:lnSpc>
              <a:buNone/>
            </a:pPr>
            <a:r>
              <a:rPr lang="en-US" sz="1150" dirty="0">
                <a:solidFill>
                  <a:srgbClr val="CDECE5"/>
                </a:solidFill>
                <a:latin typeface="Calibri" pitchFamily="34" charset="0"/>
                <a:ea typeface="Calibri" pitchFamily="34" charset="-122"/>
                <a:cs typeface="Calibri" pitchFamily="34" charset="-120"/>
              </a:rPr>
              <a:t>trimmed to a</a:t>
            </a:r>
            <a:endParaRPr lang="en-US" sz="1150" dirty="0"/>
          </a:p>
          <a:p>
            <a:pPr algn="ctr" indent="0" marL="0">
              <a:lnSpc>
                <a:spcPts val="1500"/>
              </a:lnSpc>
              <a:buNone/>
            </a:pPr>
            <a:r>
              <a:rPr lang="en-US" sz="1150" dirty="0">
                <a:solidFill>
                  <a:srgbClr val="CDECE5"/>
                </a:solidFill>
                <a:latin typeface="Calibri" pitchFamily="34" charset="0"/>
                <a:ea typeface="Calibri" pitchFamily="34" charset="-122"/>
                <a:cs typeface="Calibri" pitchFamily="34" charset="-120"/>
              </a:rPr>
              <a:t>per-topic cap</a:t>
            </a:r>
            <a:endParaRPr lang="en-US" sz="1150" dirty="0"/>
          </a:p>
        </p:txBody>
      </p:sp>
      <p:sp>
        <p:nvSpPr>
          <p:cNvPr id="28" name="Text 26"/>
          <p:cNvSpPr txBox="1"/>
          <p:nvPr/>
        </p:nvSpPr>
        <p:spPr>
          <a:xfrm>
            <a:off x="640080" y="4215384"/>
            <a:ext cx="10911535" cy="411480"/>
          </a:xfrm>
          <a:prstGeom prst="rect">
            <a:avLst/>
          </a:prstGeom>
          <a:noFill/>
          <a:ln/>
        </p:spPr>
        <p:txBody>
          <a:bodyPr wrap="square" lIns="0" tIns="0" rIns="0" bIns="0" rtlCol="0" anchor="ctr"/>
          <a:lstStyle/>
          <a:p>
            <a:pPr algn="ctr" indent="0" marL="0">
              <a:buNone/>
            </a:pPr>
            <a:r>
              <a:rPr lang="en-US" sz="1700" b="1" dirty="0">
                <a:solidFill>
                  <a:srgbClr val="06313A"/>
                </a:solidFill>
                <a:latin typeface="Calibri" pitchFamily="34" charset="0"/>
                <a:ea typeface="Calibri" pitchFamily="34" charset="-122"/>
                <a:cs typeface="Calibri" pitchFamily="34" charset="-120"/>
              </a:rPr>
              <a:t>94% of what comes in never reaches the page. That discard rate is the whole product.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HOW IT WORKS</a:t>
            </a:r>
            <a:endParaRPr lang="en-US" sz="1200" dirty="0"/>
          </a:p>
        </p:txBody>
      </p:sp>
      <p:sp>
        <p:nvSpPr>
          <p:cNvPr id="3" name="Text 1"/>
          <p:cNvSpPr txBox="1"/>
          <p:nvPr/>
        </p:nvSpPr>
        <p:spPr>
          <a:xfrm>
            <a:off x="640080" y="786384"/>
            <a:ext cx="10911535" cy="868680"/>
          </a:xfrm>
          <a:prstGeom prst="rect">
            <a:avLst/>
          </a:prstGeom>
          <a:noFill/>
          <a:ln/>
        </p:spPr>
        <p:txBody>
          <a:bodyPr wrap="square" lIns="0" tIns="0" rIns="0" bIns="0" rtlCol="0" anchor="t"/>
          <a:lstStyle/>
          <a:p>
            <a:pPr indent="0" marL="0">
              <a:buNone/>
            </a:pPr>
            <a:r>
              <a:rPr lang="en-US" sz="3200" b="1" dirty="0">
                <a:solidFill>
                  <a:srgbClr val="06313A"/>
                </a:solidFill>
                <a:latin typeface="Cambria" pitchFamily="34" charset="0"/>
                <a:ea typeface="Cambria" pitchFamily="34" charset="-122"/>
                <a:cs typeface="Cambria" pitchFamily="34" charset="-120"/>
              </a:rPr>
              <a:t>Six steps, run by a scheduled job, once a month</a:t>
            </a:r>
            <a:endParaRPr lang="en-US" sz="3200" dirty="0"/>
          </a:p>
        </p:txBody>
      </p:sp>
      <p:sp>
        <p:nvSpPr>
          <p:cNvPr id="4" name="Shape 2"/>
          <p:cNvSpPr/>
          <p:nvPr/>
        </p:nvSpPr>
        <p:spPr>
          <a:xfrm>
            <a:off x="563728" y="1746504"/>
            <a:ext cx="1691640" cy="1371600"/>
          </a:xfrm>
          <a:prstGeom prst="roundRect">
            <a:avLst>
              <a:gd name="adj" fmla="val 6667"/>
            </a:avLst>
          </a:prstGeom>
          <a:solidFill>
            <a:srgbClr val="EAF3F4"/>
          </a:solidFill>
          <a:ln w="12700">
            <a:solidFill>
              <a:srgbClr val="EAF3F4"/>
            </a:solidFill>
            <a:prstDash val="solid"/>
          </a:ln>
        </p:spPr>
      </p:sp>
      <p:sp>
        <p:nvSpPr>
          <p:cNvPr id="5" name="Text 3"/>
          <p:cNvSpPr txBox="1"/>
          <p:nvPr/>
        </p:nvSpPr>
        <p:spPr>
          <a:xfrm>
            <a:off x="673456" y="2066544"/>
            <a:ext cx="1472184" cy="347472"/>
          </a:xfrm>
          <a:prstGeom prst="rect">
            <a:avLst/>
          </a:prstGeom>
          <a:noFill/>
          <a:ln/>
        </p:spPr>
        <p:txBody>
          <a:bodyPr wrap="square" lIns="0" tIns="0" rIns="0" bIns="0" rtlCol="0" anchor="ctr"/>
          <a:lstStyle/>
          <a:p>
            <a:pPr algn="ctr" indent="0" marL="0">
              <a:buNone/>
            </a:pPr>
            <a:r>
              <a:rPr lang="en-US" sz="1500" b="1" dirty="0">
                <a:solidFill>
                  <a:srgbClr val="06313A"/>
                </a:solidFill>
                <a:latin typeface="Calibri" pitchFamily="34" charset="0"/>
                <a:ea typeface="Calibri" pitchFamily="34" charset="-122"/>
                <a:cs typeface="Calibri" pitchFamily="34" charset="-120"/>
              </a:rPr>
              <a:t>Collect</a:t>
            </a:r>
            <a:endParaRPr lang="en-US" sz="1500" dirty="0"/>
          </a:p>
        </p:txBody>
      </p:sp>
      <p:sp>
        <p:nvSpPr>
          <p:cNvPr id="6" name="Text 4"/>
          <p:cNvSpPr txBox="1"/>
          <p:nvPr/>
        </p:nvSpPr>
        <p:spPr>
          <a:xfrm>
            <a:off x="673456" y="2441448"/>
            <a:ext cx="1472184" cy="457200"/>
          </a:xfrm>
          <a:prstGeom prst="rect">
            <a:avLst/>
          </a:prstGeom>
          <a:noFill/>
          <a:ln/>
        </p:spPr>
        <p:txBody>
          <a:bodyPr wrap="square" lIns="0" tIns="0" rIns="0" bIns="0" rtlCol="0" anchor="ctr"/>
          <a:lstStyle/>
          <a:p>
            <a:pPr algn="ctr" indent="0" marL="0">
              <a:lnSpc>
                <a:spcPts val="1400"/>
              </a:lnSpc>
              <a:buNone/>
            </a:pPr>
            <a:r>
              <a:rPr lang="en-US" sz="1150" dirty="0">
                <a:solidFill>
                  <a:srgbClr val="70898F"/>
                </a:solidFill>
                <a:latin typeface="Calibri" pitchFamily="34" charset="0"/>
                <a:ea typeface="Calibri" pitchFamily="34" charset="-122"/>
                <a:cs typeface="Calibri" pitchFamily="34" charset="-120"/>
              </a:rPr>
              <a:t>six sources</a:t>
            </a:r>
            <a:endParaRPr lang="en-US" sz="1150" dirty="0"/>
          </a:p>
        </p:txBody>
      </p:sp>
      <p:sp>
        <p:nvSpPr>
          <p:cNvPr id="7" name="Shape 5"/>
          <p:cNvSpPr/>
          <p:nvPr/>
        </p:nvSpPr>
        <p:spPr>
          <a:xfrm>
            <a:off x="2438248" y="1746504"/>
            <a:ext cx="1691640" cy="1371600"/>
          </a:xfrm>
          <a:prstGeom prst="roundRect">
            <a:avLst>
              <a:gd name="adj" fmla="val 6667"/>
            </a:avLst>
          </a:prstGeom>
          <a:solidFill>
            <a:srgbClr val="EAF3F4"/>
          </a:solidFill>
          <a:ln w="12700">
            <a:solidFill>
              <a:srgbClr val="EAF3F4"/>
            </a:solidFill>
            <a:prstDash val="solid"/>
          </a:ln>
        </p:spPr>
      </p:sp>
      <p:sp>
        <p:nvSpPr>
          <p:cNvPr id="8" name="Text 6"/>
          <p:cNvSpPr txBox="1"/>
          <p:nvPr/>
        </p:nvSpPr>
        <p:spPr>
          <a:xfrm>
            <a:off x="2547976" y="2066544"/>
            <a:ext cx="1472184" cy="347472"/>
          </a:xfrm>
          <a:prstGeom prst="rect">
            <a:avLst/>
          </a:prstGeom>
          <a:noFill/>
          <a:ln/>
        </p:spPr>
        <p:txBody>
          <a:bodyPr wrap="square" lIns="0" tIns="0" rIns="0" bIns="0" rtlCol="0" anchor="ctr"/>
          <a:lstStyle/>
          <a:p>
            <a:pPr algn="ctr" indent="0" marL="0">
              <a:buNone/>
            </a:pPr>
            <a:r>
              <a:rPr lang="en-US" sz="1500" b="1" dirty="0">
                <a:solidFill>
                  <a:srgbClr val="06313A"/>
                </a:solidFill>
                <a:latin typeface="Calibri" pitchFamily="34" charset="0"/>
                <a:ea typeface="Calibri" pitchFamily="34" charset="-122"/>
                <a:cs typeface="Calibri" pitchFamily="34" charset="-120"/>
              </a:rPr>
              <a:t>Tidy up</a:t>
            </a:r>
            <a:endParaRPr lang="en-US" sz="1500" dirty="0"/>
          </a:p>
        </p:txBody>
      </p:sp>
      <p:sp>
        <p:nvSpPr>
          <p:cNvPr id="9" name="Text 7"/>
          <p:cNvSpPr txBox="1"/>
          <p:nvPr/>
        </p:nvSpPr>
        <p:spPr>
          <a:xfrm>
            <a:off x="2547976" y="2441448"/>
            <a:ext cx="1472184" cy="457200"/>
          </a:xfrm>
          <a:prstGeom prst="rect">
            <a:avLst/>
          </a:prstGeom>
          <a:noFill/>
          <a:ln/>
        </p:spPr>
        <p:txBody>
          <a:bodyPr wrap="square" lIns="0" tIns="0" rIns="0" bIns="0" rtlCol="0" anchor="ctr"/>
          <a:lstStyle/>
          <a:p>
            <a:pPr algn="ctr" indent="0" marL="0">
              <a:lnSpc>
                <a:spcPts val="1400"/>
              </a:lnSpc>
              <a:buNone/>
            </a:pPr>
            <a:r>
              <a:rPr lang="en-US" sz="1150" dirty="0">
                <a:solidFill>
                  <a:srgbClr val="70898F"/>
                </a:solidFill>
                <a:latin typeface="Calibri" pitchFamily="34" charset="0"/>
                <a:ea typeface="Calibri" pitchFamily="34" charset="-122"/>
                <a:cs typeface="Calibri" pitchFamily="34" charset="-120"/>
              </a:rPr>
              <a:t>dedupe, clean text</a:t>
            </a:r>
            <a:endParaRPr lang="en-US" sz="1150" dirty="0"/>
          </a:p>
        </p:txBody>
      </p:sp>
      <p:sp>
        <p:nvSpPr>
          <p:cNvPr id="10" name="Shape 8"/>
          <p:cNvSpPr/>
          <p:nvPr/>
        </p:nvSpPr>
        <p:spPr>
          <a:xfrm>
            <a:off x="4312768" y="1746504"/>
            <a:ext cx="1691640" cy="1371600"/>
          </a:xfrm>
          <a:prstGeom prst="roundRect">
            <a:avLst>
              <a:gd name="adj" fmla="val 6667"/>
            </a:avLst>
          </a:prstGeom>
          <a:solidFill>
            <a:srgbClr val="028090"/>
          </a:solidFill>
          <a:ln w="12700">
            <a:solidFill>
              <a:srgbClr val="028090"/>
            </a:solidFill>
            <a:prstDash val="solid"/>
          </a:ln>
        </p:spPr>
      </p:sp>
      <p:sp>
        <p:nvSpPr>
          <p:cNvPr id="11" name="Text 9"/>
          <p:cNvSpPr txBox="1"/>
          <p:nvPr/>
        </p:nvSpPr>
        <p:spPr>
          <a:xfrm>
            <a:off x="4422496" y="2066544"/>
            <a:ext cx="1472184"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Score</a:t>
            </a:r>
            <a:endParaRPr lang="en-US" sz="1500" dirty="0"/>
          </a:p>
        </p:txBody>
      </p:sp>
      <p:sp>
        <p:nvSpPr>
          <p:cNvPr id="12" name="Text 10"/>
          <p:cNvSpPr txBox="1"/>
          <p:nvPr/>
        </p:nvSpPr>
        <p:spPr>
          <a:xfrm>
            <a:off x="4422496" y="2441448"/>
            <a:ext cx="1472184" cy="457200"/>
          </a:xfrm>
          <a:prstGeom prst="rect">
            <a:avLst/>
          </a:prstGeom>
          <a:noFill/>
          <a:ln/>
        </p:spPr>
        <p:txBody>
          <a:bodyPr wrap="square" lIns="0" tIns="0" rIns="0" bIns="0" rtlCol="0" anchor="ctr"/>
          <a:lstStyle/>
          <a:p>
            <a:pPr algn="ctr" indent="0" marL="0">
              <a:lnSpc>
                <a:spcPts val="1400"/>
              </a:lnSpc>
              <a:buNone/>
            </a:pPr>
            <a:r>
              <a:rPr lang="en-US" sz="1150" dirty="0">
                <a:solidFill>
                  <a:srgbClr val="CDECE5"/>
                </a:solidFill>
                <a:latin typeface="Calibri" pitchFamily="34" charset="0"/>
                <a:ea typeface="Calibri" pitchFamily="34" charset="-122"/>
                <a:cs typeface="Calibri" pitchFamily="34" charset="-120"/>
              </a:rPr>
              <a:t>is this relevant?</a:t>
            </a:r>
            <a:endParaRPr lang="en-US" sz="1150" dirty="0"/>
          </a:p>
        </p:txBody>
      </p:sp>
      <p:sp>
        <p:nvSpPr>
          <p:cNvPr id="13" name="Shape 11"/>
          <p:cNvSpPr/>
          <p:nvPr/>
        </p:nvSpPr>
        <p:spPr>
          <a:xfrm>
            <a:off x="6187288" y="1746504"/>
            <a:ext cx="1691640" cy="1371600"/>
          </a:xfrm>
          <a:prstGeom prst="roundRect">
            <a:avLst>
              <a:gd name="adj" fmla="val 6667"/>
            </a:avLst>
          </a:prstGeom>
          <a:solidFill>
            <a:srgbClr val="EAF3F4"/>
          </a:solidFill>
          <a:ln w="12700">
            <a:solidFill>
              <a:srgbClr val="EAF3F4"/>
            </a:solidFill>
            <a:prstDash val="solid"/>
          </a:ln>
        </p:spPr>
      </p:sp>
      <p:sp>
        <p:nvSpPr>
          <p:cNvPr id="14" name="Text 12"/>
          <p:cNvSpPr txBox="1"/>
          <p:nvPr/>
        </p:nvSpPr>
        <p:spPr>
          <a:xfrm>
            <a:off x="6297016" y="2066544"/>
            <a:ext cx="1472184" cy="347472"/>
          </a:xfrm>
          <a:prstGeom prst="rect">
            <a:avLst/>
          </a:prstGeom>
          <a:noFill/>
          <a:ln/>
        </p:spPr>
        <p:txBody>
          <a:bodyPr wrap="square" lIns="0" tIns="0" rIns="0" bIns="0" rtlCol="0" anchor="ctr"/>
          <a:lstStyle/>
          <a:p>
            <a:pPr algn="ctr" indent="0" marL="0">
              <a:buNone/>
            </a:pPr>
            <a:r>
              <a:rPr lang="en-US" sz="1500" b="1" dirty="0">
                <a:solidFill>
                  <a:srgbClr val="06313A"/>
                </a:solidFill>
                <a:latin typeface="Calibri" pitchFamily="34" charset="0"/>
                <a:ea typeface="Calibri" pitchFamily="34" charset="-122"/>
                <a:cs typeface="Calibri" pitchFamily="34" charset="-120"/>
              </a:rPr>
              <a:t>Prepare</a:t>
            </a:r>
            <a:endParaRPr lang="en-US" sz="1500" dirty="0"/>
          </a:p>
        </p:txBody>
      </p:sp>
      <p:sp>
        <p:nvSpPr>
          <p:cNvPr id="15" name="Text 13"/>
          <p:cNvSpPr txBox="1"/>
          <p:nvPr/>
        </p:nvSpPr>
        <p:spPr>
          <a:xfrm>
            <a:off x="6297016" y="2441448"/>
            <a:ext cx="1472184" cy="457200"/>
          </a:xfrm>
          <a:prstGeom prst="rect">
            <a:avLst/>
          </a:prstGeom>
          <a:noFill/>
          <a:ln/>
        </p:spPr>
        <p:txBody>
          <a:bodyPr wrap="square" lIns="0" tIns="0" rIns="0" bIns="0" rtlCol="0" anchor="ctr"/>
          <a:lstStyle/>
          <a:p>
            <a:pPr algn="ctr" indent="0" marL="0">
              <a:lnSpc>
                <a:spcPts val="1400"/>
              </a:lnSpc>
              <a:buNone/>
            </a:pPr>
            <a:r>
              <a:rPr lang="en-US" sz="1150" dirty="0">
                <a:solidFill>
                  <a:srgbClr val="70898F"/>
                </a:solidFill>
                <a:latin typeface="Calibri" pitchFamily="34" charset="0"/>
                <a:ea typeface="Calibri" pitchFamily="34" charset="-122"/>
                <a:cs typeface="Calibri" pitchFamily="34" charset="-120"/>
              </a:rPr>
              <a:t>cap, sort, group</a:t>
            </a:r>
            <a:endParaRPr lang="en-US" sz="1150" dirty="0"/>
          </a:p>
        </p:txBody>
      </p:sp>
      <p:sp>
        <p:nvSpPr>
          <p:cNvPr id="16" name="Shape 14"/>
          <p:cNvSpPr/>
          <p:nvPr/>
        </p:nvSpPr>
        <p:spPr>
          <a:xfrm>
            <a:off x="8061808" y="1746504"/>
            <a:ext cx="1691640" cy="1371600"/>
          </a:xfrm>
          <a:prstGeom prst="roundRect">
            <a:avLst>
              <a:gd name="adj" fmla="val 6667"/>
            </a:avLst>
          </a:prstGeom>
          <a:solidFill>
            <a:srgbClr val="028090"/>
          </a:solidFill>
          <a:ln w="12700">
            <a:solidFill>
              <a:srgbClr val="028090"/>
            </a:solidFill>
            <a:prstDash val="solid"/>
          </a:ln>
        </p:spPr>
      </p:sp>
      <p:sp>
        <p:nvSpPr>
          <p:cNvPr id="17" name="Text 15"/>
          <p:cNvSpPr txBox="1"/>
          <p:nvPr/>
        </p:nvSpPr>
        <p:spPr>
          <a:xfrm>
            <a:off x="8171536" y="2066544"/>
            <a:ext cx="1472184"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Write</a:t>
            </a:r>
            <a:endParaRPr lang="en-US" sz="1500" dirty="0"/>
          </a:p>
        </p:txBody>
      </p:sp>
      <p:sp>
        <p:nvSpPr>
          <p:cNvPr id="18" name="Text 16"/>
          <p:cNvSpPr txBox="1"/>
          <p:nvPr/>
        </p:nvSpPr>
        <p:spPr>
          <a:xfrm>
            <a:off x="8171536" y="2441448"/>
            <a:ext cx="1472184" cy="457200"/>
          </a:xfrm>
          <a:prstGeom prst="rect">
            <a:avLst/>
          </a:prstGeom>
          <a:noFill/>
          <a:ln/>
        </p:spPr>
        <p:txBody>
          <a:bodyPr wrap="square" lIns="0" tIns="0" rIns="0" bIns="0" rtlCol="0" anchor="ctr"/>
          <a:lstStyle/>
          <a:p>
            <a:pPr algn="ctr" indent="0" marL="0">
              <a:lnSpc>
                <a:spcPts val="1400"/>
              </a:lnSpc>
              <a:buNone/>
            </a:pPr>
            <a:r>
              <a:rPr lang="en-US" sz="1150" dirty="0">
                <a:solidFill>
                  <a:srgbClr val="CDECE5"/>
                </a:solidFill>
                <a:latin typeface="Calibri" pitchFamily="34" charset="0"/>
                <a:ea typeface="Calibri" pitchFamily="34" charset="-122"/>
                <a:cs typeface="Calibri" pitchFamily="34" charset="-120"/>
              </a:rPr>
              <a:t>summaries, narrative</a:t>
            </a:r>
            <a:endParaRPr lang="en-US" sz="1150" dirty="0"/>
          </a:p>
        </p:txBody>
      </p:sp>
      <p:sp>
        <p:nvSpPr>
          <p:cNvPr id="19" name="Shape 17"/>
          <p:cNvSpPr/>
          <p:nvPr/>
        </p:nvSpPr>
        <p:spPr>
          <a:xfrm>
            <a:off x="9936328" y="1746504"/>
            <a:ext cx="1691640" cy="1371600"/>
          </a:xfrm>
          <a:prstGeom prst="roundRect">
            <a:avLst>
              <a:gd name="adj" fmla="val 6667"/>
            </a:avLst>
          </a:prstGeom>
          <a:solidFill>
            <a:srgbClr val="EAF3F4"/>
          </a:solidFill>
          <a:ln w="12700">
            <a:solidFill>
              <a:srgbClr val="EAF3F4"/>
            </a:solidFill>
            <a:prstDash val="solid"/>
          </a:ln>
        </p:spPr>
      </p:sp>
      <p:sp>
        <p:nvSpPr>
          <p:cNvPr id="20" name="Text 18"/>
          <p:cNvSpPr txBox="1"/>
          <p:nvPr/>
        </p:nvSpPr>
        <p:spPr>
          <a:xfrm>
            <a:off x="10046056" y="2066544"/>
            <a:ext cx="1472184" cy="347472"/>
          </a:xfrm>
          <a:prstGeom prst="rect">
            <a:avLst/>
          </a:prstGeom>
          <a:noFill/>
          <a:ln/>
        </p:spPr>
        <p:txBody>
          <a:bodyPr wrap="square" lIns="0" tIns="0" rIns="0" bIns="0" rtlCol="0" anchor="ctr"/>
          <a:lstStyle/>
          <a:p>
            <a:pPr algn="ctr" indent="0" marL="0">
              <a:buNone/>
            </a:pPr>
            <a:r>
              <a:rPr lang="en-US" sz="1500" b="1" dirty="0">
                <a:solidFill>
                  <a:srgbClr val="06313A"/>
                </a:solidFill>
                <a:latin typeface="Calibri" pitchFamily="34" charset="0"/>
                <a:ea typeface="Calibri" pitchFamily="34" charset="-122"/>
                <a:cs typeface="Calibri" pitchFamily="34" charset="-120"/>
              </a:rPr>
              <a:t>Publish</a:t>
            </a:r>
            <a:endParaRPr lang="en-US" sz="1500" dirty="0"/>
          </a:p>
        </p:txBody>
      </p:sp>
      <p:sp>
        <p:nvSpPr>
          <p:cNvPr id="21" name="Text 19"/>
          <p:cNvSpPr txBox="1"/>
          <p:nvPr/>
        </p:nvSpPr>
        <p:spPr>
          <a:xfrm>
            <a:off x="10046056" y="2441448"/>
            <a:ext cx="1472184" cy="457200"/>
          </a:xfrm>
          <a:prstGeom prst="rect">
            <a:avLst/>
          </a:prstGeom>
          <a:noFill/>
          <a:ln/>
        </p:spPr>
        <p:txBody>
          <a:bodyPr wrap="square" lIns="0" tIns="0" rIns="0" bIns="0" rtlCol="0" anchor="ctr"/>
          <a:lstStyle/>
          <a:p>
            <a:pPr algn="ctr" indent="0" marL="0">
              <a:lnSpc>
                <a:spcPts val="1400"/>
              </a:lnSpc>
              <a:buNone/>
            </a:pPr>
            <a:r>
              <a:rPr lang="en-US" sz="1150" dirty="0">
                <a:solidFill>
                  <a:srgbClr val="70898F"/>
                </a:solidFill>
                <a:latin typeface="Calibri" pitchFamily="34" charset="0"/>
                <a:ea typeface="Calibri" pitchFamily="34" charset="-122"/>
                <a:cs typeface="Calibri" pitchFamily="34" charset="-120"/>
              </a:rPr>
              <a:t>commit + deploy</a:t>
            </a:r>
            <a:endParaRPr lang="en-US" sz="1150" dirty="0"/>
          </a:p>
        </p:txBody>
      </p:sp>
      <p:sp>
        <p:nvSpPr>
          <p:cNvPr id="22" name="Shape 20"/>
          <p:cNvSpPr/>
          <p:nvPr/>
        </p:nvSpPr>
        <p:spPr>
          <a:xfrm>
            <a:off x="838048" y="3346704"/>
            <a:ext cx="128016" cy="128016"/>
          </a:xfrm>
          <a:prstGeom prst="ellipse">
            <a:avLst/>
          </a:prstGeom>
          <a:solidFill>
            <a:srgbClr val="028090"/>
          </a:solidFill>
          <a:ln w="12700">
            <a:solidFill>
              <a:srgbClr val="028090"/>
            </a:solidFill>
            <a:prstDash val="solid"/>
          </a:ln>
        </p:spPr>
      </p:sp>
      <p:sp>
        <p:nvSpPr>
          <p:cNvPr id="23" name="Text 21"/>
          <p:cNvSpPr txBox="1"/>
          <p:nvPr/>
        </p:nvSpPr>
        <p:spPr>
          <a:xfrm>
            <a:off x="1094080" y="3227832"/>
            <a:ext cx="8229600" cy="365760"/>
          </a:xfrm>
          <a:prstGeom prst="rect">
            <a:avLst/>
          </a:prstGeom>
          <a:noFill/>
          <a:ln/>
        </p:spPr>
        <p:txBody>
          <a:bodyPr wrap="square" lIns="0" tIns="0" rIns="0" bIns="0" rtlCol="0" anchor="ctr"/>
          <a:lstStyle/>
          <a:p>
            <a:pPr indent="0" marL="0">
              <a:buNone/>
            </a:pPr>
            <a:r>
              <a:rPr lang="en-US" sz="1350" dirty="0">
                <a:solidFill>
                  <a:srgbClr val="33474D"/>
                </a:solidFill>
                <a:latin typeface="Calibri" pitchFamily="34" charset="0"/>
                <a:ea typeface="Calibri" pitchFamily="34" charset="-122"/>
                <a:cs typeface="Calibri" pitchFamily="34" charset="-120"/>
              </a:rPr>
              <a:t>Teal steps are the ones a language model does. The other four are ordinary code.</a:t>
            </a:r>
            <a:endParaRPr lang="en-US" sz="1350" dirty="0"/>
          </a:p>
        </p:txBody>
      </p:sp>
      <p:sp>
        <p:nvSpPr>
          <p:cNvPr id="24" name="Text 22"/>
          <p:cNvSpPr txBox="1"/>
          <p:nvPr/>
        </p:nvSpPr>
        <p:spPr>
          <a:xfrm>
            <a:off x="640080" y="3849624"/>
            <a:ext cx="3454298" cy="292608"/>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No database.</a:t>
            </a:r>
            <a:endParaRPr lang="en-US" sz="1400" dirty="0"/>
          </a:p>
        </p:txBody>
      </p:sp>
      <p:sp>
        <p:nvSpPr>
          <p:cNvPr id="25" name="Text 23"/>
          <p:cNvSpPr txBox="1"/>
          <p:nvPr/>
        </p:nvSpPr>
        <p:spPr>
          <a:xfrm>
            <a:off x="640080" y="4160520"/>
            <a:ext cx="3454298" cy="731520"/>
          </a:xfrm>
          <a:prstGeom prst="rect">
            <a:avLst/>
          </a:prstGeom>
          <a:noFill/>
          <a:ln/>
        </p:spPr>
        <p:txBody>
          <a:bodyPr wrap="square" lIns="0" tIns="0" rIns="0" bIns="0" rtlCol="0" anchor="ctr"/>
          <a:lstStyle/>
          <a:p>
            <a:pPr indent="0" marL="0">
              <a:lnSpc>
                <a:spcPts val="1700"/>
              </a:lnSpc>
              <a:buNone/>
            </a:pPr>
            <a:r>
              <a:rPr lang="en-US" sz="1250" dirty="0">
                <a:solidFill>
                  <a:srgbClr val="33474D"/>
                </a:solidFill>
                <a:latin typeface="Calibri" pitchFamily="34" charset="0"/>
                <a:ea typeface="Calibri" pitchFamily="34" charset="-122"/>
                <a:cs typeface="Calibri" pitchFamily="34" charset="-120"/>
              </a:rPr>
              <a:t>The month is one file, committed to the repo. The website is rebuilt from it.</a:t>
            </a:r>
            <a:endParaRPr lang="en-US" sz="1250" dirty="0"/>
          </a:p>
        </p:txBody>
      </p:sp>
      <p:sp>
        <p:nvSpPr>
          <p:cNvPr id="26" name="Text 24"/>
          <p:cNvSpPr txBox="1"/>
          <p:nvPr/>
        </p:nvSpPr>
        <p:spPr>
          <a:xfrm>
            <a:off x="4368698" y="3849624"/>
            <a:ext cx="3454298" cy="292608"/>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Every step saves its work.</a:t>
            </a:r>
            <a:endParaRPr lang="en-US" sz="1400" dirty="0"/>
          </a:p>
        </p:txBody>
      </p:sp>
      <p:sp>
        <p:nvSpPr>
          <p:cNvPr id="27" name="Text 25"/>
          <p:cNvSpPr txBox="1"/>
          <p:nvPr/>
        </p:nvSpPr>
        <p:spPr>
          <a:xfrm>
            <a:off x="4368698" y="4160520"/>
            <a:ext cx="3454298" cy="731520"/>
          </a:xfrm>
          <a:prstGeom prst="rect">
            <a:avLst/>
          </a:prstGeom>
          <a:noFill/>
          <a:ln/>
        </p:spPr>
        <p:txBody>
          <a:bodyPr wrap="square" lIns="0" tIns="0" rIns="0" bIns="0" rtlCol="0" anchor="ctr"/>
          <a:lstStyle/>
          <a:p>
            <a:pPr indent="0" marL="0">
              <a:lnSpc>
                <a:spcPts val="1700"/>
              </a:lnSpc>
              <a:buNone/>
            </a:pPr>
            <a:r>
              <a:rPr lang="en-US" sz="1250" dirty="0">
                <a:solidFill>
                  <a:srgbClr val="33474D"/>
                </a:solidFill>
                <a:latin typeface="Calibri" pitchFamily="34" charset="0"/>
                <a:ea typeface="Calibri" pitchFamily="34" charset="-122"/>
                <a:cs typeface="Calibri" pitchFamily="34" charset="-120"/>
              </a:rPr>
              <a:t>If step 4 fails, you restart at 4 — you don't re-do the expensive steps.</a:t>
            </a:r>
            <a:endParaRPr lang="en-US" sz="1250" dirty="0"/>
          </a:p>
        </p:txBody>
      </p:sp>
      <p:sp>
        <p:nvSpPr>
          <p:cNvPr id="28" name="Text 26"/>
          <p:cNvSpPr txBox="1"/>
          <p:nvPr/>
        </p:nvSpPr>
        <p:spPr>
          <a:xfrm>
            <a:off x="8097317" y="3849624"/>
            <a:ext cx="3454298" cy="292608"/>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Nobody presses anything.</a:t>
            </a:r>
            <a:endParaRPr lang="en-US" sz="1400" dirty="0"/>
          </a:p>
        </p:txBody>
      </p:sp>
      <p:sp>
        <p:nvSpPr>
          <p:cNvPr id="29" name="Text 27"/>
          <p:cNvSpPr txBox="1"/>
          <p:nvPr/>
        </p:nvSpPr>
        <p:spPr>
          <a:xfrm>
            <a:off x="8097317" y="4160520"/>
            <a:ext cx="3454298" cy="731520"/>
          </a:xfrm>
          <a:prstGeom prst="rect">
            <a:avLst/>
          </a:prstGeom>
          <a:noFill/>
          <a:ln/>
        </p:spPr>
        <p:txBody>
          <a:bodyPr wrap="square" lIns="0" tIns="0" rIns="0" bIns="0" rtlCol="0" anchor="ctr"/>
          <a:lstStyle/>
          <a:p>
            <a:pPr indent="0" marL="0">
              <a:lnSpc>
                <a:spcPts val="1700"/>
              </a:lnSpc>
              <a:buNone/>
            </a:pPr>
            <a:r>
              <a:rPr lang="en-US" sz="1250" dirty="0">
                <a:solidFill>
                  <a:srgbClr val="33474D"/>
                </a:solidFill>
                <a:latin typeface="Calibri" pitchFamily="34" charset="0"/>
                <a:ea typeface="Calibri" pitchFamily="34" charset="-122"/>
                <a:cs typeface="Calibri" pitchFamily="34" charset="-120"/>
              </a:rPr>
              <a:t>It runs on the 2nd of the month and publishes itself.</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313A"/>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256032"/>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THE MAIN IDEA</a:t>
            </a:r>
            <a:endParaRPr lang="en-US" sz="1200" dirty="0"/>
          </a:p>
        </p:txBody>
      </p:sp>
      <p:sp>
        <p:nvSpPr>
          <p:cNvPr id="3" name="Text 1"/>
          <p:cNvSpPr txBox="1"/>
          <p:nvPr/>
        </p:nvSpPr>
        <p:spPr>
          <a:xfrm>
            <a:off x="640080" y="786384"/>
            <a:ext cx="10911535" cy="8686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Let the model judge. Code does the bookkeeping.</a:t>
            </a:r>
            <a:endParaRPr lang="en-US" sz="3200" dirty="0"/>
          </a:p>
        </p:txBody>
      </p:sp>
      <p:sp>
        <p:nvSpPr>
          <p:cNvPr id="4" name="Shape 2"/>
          <p:cNvSpPr/>
          <p:nvPr/>
        </p:nvSpPr>
        <p:spPr>
          <a:xfrm>
            <a:off x="640080" y="1746504"/>
            <a:ext cx="5227168" cy="2743200"/>
          </a:xfrm>
          <a:prstGeom prst="roundRect">
            <a:avLst>
              <a:gd name="adj" fmla="val 3333"/>
            </a:avLst>
          </a:prstGeom>
          <a:solidFill>
            <a:srgbClr val="0B4550"/>
          </a:solidFill>
          <a:ln w="12700">
            <a:solidFill>
              <a:srgbClr val="0B4550"/>
            </a:solidFill>
            <a:prstDash val="solid"/>
          </a:ln>
        </p:spPr>
      </p:sp>
      <p:sp>
        <p:nvSpPr>
          <p:cNvPr id="5" name="Shape 3"/>
          <p:cNvSpPr/>
          <p:nvPr/>
        </p:nvSpPr>
        <p:spPr>
          <a:xfrm>
            <a:off x="6324448" y="1746504"/>
            <a:ext cx="5227168" cy="2743200"/>
          </a:xfrm>
          <a:prstGeom prst="roundRect">
            <a:avLst>
              <a:gd name="adj" fmla="val 3333"/>
            </a:avLst>
          </a:prstGeom>
          <a:solidFill>
            <a:srgbClr val="0A5B5F"/>
          </a:solidFill>
          <a:ln w="12700">
            <a:solidFill>
              <a:srgbClr val="0A5B5F"/>
            </a:solidFill>
            <a:prstDash val="solid"/>
          </a:ln>
        </p:spPr>
      </p:sp>
      <p:sp>
        <p:nvSpPr>
          <p:cNvPr id="6" name="Text 4"/>
          <p:cNvSpPr txBox="1"/>
          <p:nvPr/>
        </p:nvSpPr>
        <p:spPr>
          <a:xfrm>
            <a:off x="1005840" y="2020824"/>
            <a:ext cx="4495648" cy="320040"/>
          </a:xfrm>
          <a:prstGeom prst="rect">
            <a:avLst/>
          </a:prstGeom>
          <a:noFill/>
          <a:ln/>
        </p:spPr>
        <p:txBody>
          <a:bodyPr wrap="square" lIns="0" tIns="0" rIns="0" bIns="0" rtlCol="0" anchor="ctr"/>
          <a:lstStyle/>
          <a:p>
            <a:pPr indent="0" marL="0">
              <a:buNone/>
            </a:pPr>
            <a:r>
              <a:rPr lang="en-US" sz="1500" b="1" spc="150" kern="0" dirty="0">
                <a:solidFill>
                  <a:srgbClr val="8FB6BC"/>
                </a:solidFill>
                <a:latin typeface="Calibri" pitchFamily="34" charset="0"/>
                <a:ea typeface="Calibri" pitchFamily="34" charset="-122"/>
                <a:cs typeface="Calibri" pitchFamily="34" charset="-120"/>
              </a:rPr>
              <a:t>Code does</a:t>
            </a:r>
            <a:endParaRPr lang="en-US" sz="1500" dirty="0"/>
          </a:p>
        </p:txBody>
      </p:sp>
      <p:sp>
        <p:nvSpPr>
          <p:cNvPr id="7" name="Text 5"/>
          <p:cNvSpPr txBox="1"/>
          <p:nvPr/>
        </p:nvSpPr>
        <p:spPr>
          <a:xfrm>
            <a:off x="1005840" y="2478024"/>
            <a:ext cx="4495648" cy="182880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Fetching from every source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Spotting the same paper twice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Cleaning up messy text</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Applying the per-topic caps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Deciding the reading order</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Remembering what we've seen before</a:t>
            </a:r>
            <a:endParaRPr lang="en-US" sz="1400" dirty="0"/>
          </a:p>
        </p:txBody>
      </p:sp>
      <p:sp>
        <p:nvSpPr>
          <p:cNvPr id="8" name="Text 6"/>
          <p:cNvSpPr txBox="1"/>
          <p:nvPr/>
        </p:nvSpPr>
        <p:spPr>
          <a:xfrm>
            <a:off x="6690208" y="2020824"/>
            <a:ext cx="4495648" cy="320040"/>
          </a:xfrm>
          <a:prstGeom prst="rect">
            <a:avLst/>
          </a:prstGeom>
          <a:noFill/>
          <a:ln/>
        </p:spPr>
        <p:txBody>
          <a:bodyPr wrap="square" lIns="0" tIns="0" rIns="0" bIns="0" rtlCol="0" anchor="ctr"/>
          <a:lstStyle/>
          <a:p>
            <a:pPr indent="0" marL="0">
              <a:buNone/>
            </a:pPr>
            <a:r>
              <a:rPr lang="en-US" sz="1500" b="1" spc="150" kern="0" dirty="0">
                <a:solidFill>
                  <a:srgbClr val="02C39A"/>
                </a:solidFill>
                <a:latin typeface="Calibri" pitchFamily="34" charset="0"/>
                <a:ea typeface="Calibri" pitchFamily="34" charset="-122"/>
                <a:cs typeface="Calibri" pitchFamily="34" charset="-120"/>
              </a:rPr>
              <a:t>The model does</a:t>
            </a:r>
            <a:endParaRPr lang="en-US" sz="1500" dirty="0"/>
          </a:p>
        </p:txBody>
      </p:sp>
      <p:sp>
        <p:nvSpPr>
          <p:cNvPr id="9" name="Text 7"/>
          <p:cNvSpPr txBox="1"/>
          <p:nvPr/>
        </p:nvSpPr>
        <p:spPr>
          <a:xfrm>
            <a:off x="6690208" y="2478024"/>
            <a:ext cx="4495648" cy="146304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Is this paper relevant to this topic?</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What did this paper actually find?</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Why would this reader care?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What was this month about?</a:t>
            </a:r>
            <a:endParaRPr lang="en-US" sz="1400" dirty="0"/>
          </a:p>
        </p:txBody>
      </p:sp>
      <p:sp>
        <p:nvSpPr>
          <p:cNvPr id="10" name="Text 8"/>
          <p:cNvSpPr txBox="1"/>
          <p:nvPr/>
        </p:nvSpPr>
        <p:spPr>
          <a:xfrm>
            <a:off x="640080" y="4718304"/>
            <a:ext cx="10911535" cy="457200"/>
          </a:xfrm>
          <a:prstGeom prst="rect">
            <a:avLst/>
          </a:prstGeom>
          <a:noFill/>
          <a:ln/>
        </p:spPr>
        <p:txBody>
          <a:bodyPr wrap="square" lIns="0" tIns="0" rIns="0" bIns="0" rtlCol="0" anchor="ctr"/>
          <a:lstStyle/>
          <a:p>
            <a:pPr algn="ctr" indent="0" marL="0">
              <a:buNone/>
            </a:pPr>
            <a:r>
              <a:rPr lang="en-US" sz="1600" i="1" dirty="0">
                <a:solidFill>
                  <a:srgbClr val="A8C6CB"/>
                </a:solidFill>
                <a:latin typeface="Calibri" pitchFamily="34" charset="0"/>
                <a:ea typeface="Calibri" pitchFamily="34" charset="-122"/>
                <a:cs typeface="Calibri" pitchFamily="34" charset="-120"/>
              </a:rPr>
              <a:t>Every time you let a model re-derive something code already knows, you buy yourself randomness you didn't need.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STEP 3: THE FILTER</a:t>
            </a:r>
            <a:endParaRPr lang="en-US" sz="1200" dirty="0"/>
          </a:p>
        </p:txBody>
      </p:sp>
      <p:sp>
        <p:nvSpPr>
          <p:cNvPr id="3" name="Text 1"/>
          <p:cNvSpPr txBox="1"/>
          <p:nvPr/>
        </p:nvSpPr>
        <p:spPr>
          <a:xfrm>
            <a:off x="640080" y="786384"/>
            <a:ext cx="10911535" cy="868680"/>
          </a:xfrm>
          <a:prstGeom prst="rect">
            <a:avLst/>
          </a:prstGeom>
          <a:noFill/>
          <a:ln/>
        </p:spPr>
        <p:txBody>
          <a:bodyPr wrap="square" lIns="0" tIns="0" rIns="0" bIns="0" rtlCol="0" anchor="t"/>
          <a:lstStyle/>
          <a:p>
            <a:pPr indent="0" marL="0">
              <a:buNone/>
            </a:pPr>
            <a:r>
              <a:rPr lang="en-US" sz="3200" b="1" dirty="0">
                <a:solidFill>
                  <a:srgbClr val="06313A"/>
                </a:solidFill>
                <a:latin typeface="Cambria" pitchFamily="34" charset="0"/>
                <a:ea typeface="Cambria" pitchFamily="34" charset="-122"/>
                <a:cs typeface="Cambria" pitchFamily="34" charset="-120"/>
              </a:rPr>
              <a:t>Score every paper, against every topic, 0 to 5</a:t>
            </a:r>
            <a:endParaRPr lang="en-US" sz="3200" dirty="0"/>
          </a:p>
        </p:txBody>
      </p:sp>
      <p:sp>
        <p:nvSpPr>
          <p:cNvPr id="4" name="Text 2"/>
          <p:cNvSpPr txBox="1"/>
          <p:nvPr/>
        </p:nvSpPr>
        <p:spPr>
          <a:xfrm>
            <a:off x="640080" y="1746504"/>
            <a:ext cx="6766560" cy="914400"/>
          </a:xfrm>
          <a:prstGeom prst="rect">
            <a:avLst/>
          </a:prstGeom>
          <a:noFill/>
          <a:ln/>
        </p:spPr>
        <p:txBody>
          <a:bodyPr wrap="square" lIns="0" tIns="0" rIns="0" bIns="0" rtlCol="0" anchor="ctr"/>
          <a:lstStyle/>
          <a:p>
            <a:pPr indent="0" marL="0">
              <a:lnSpc>
                <a:spcPts val="2300"/>
              </a:lnSpc>
              <a:buNone/>
            </a:pPr>
            <a:r>
              <a:rPr lang="en-US" sz="1600" dirty="0">
                <a:solidFill>
                  <a:srgbClr val="33474D"/>
                </a:solidFill>
                <a:latin typeface="Calibri" pitchFamily="34" charset="0"/>
                <a:ea typeface="Calibri" pitchFamily="34" charset="-122"/>
                <a:cs typeface="Calibri" pitchFamily="34" charset="-120"/>
              </a:rPr>
              <a:t>The model gets a batch of papers and one topic's description, and returns a number for each. Anything under 3 is thrown away and never seen again.</a:t>
            </a:r>
            <a:endParaRPr lang="en-US" sz="1600" dirty="0"/>
          </a:p>
        </p:txBody>
      </p:sp>
      <p:sp>
        <p:nvSpPr>
          <p:cNvPr id="5" name="Shape 3"/>
          <p:cNvSpPr/>
          <p:nvPr/>
        </p:nvSpPr>
        <p:spPr>
          <a:xfrm>
            <a:off x="640080" y="2816352"/>
            <a:ext cx="420624" cy="420624"/>
          </a:xfrm>
          <a:prstGeom prst="ellipse">
            <a:avLst/>
          </a:prstGeom>
          <a:solidFill>
            <a:srgbClr val="02C39A"/>
          </a:solidFill>
          <a:ln w="12700">
            <a:solidFill>
              <a:srgbClr val="02C39A"/>
            </a:solidFill>
            <a:prstDash val="solid"/>
          </a:ln>
        </p:spPr>
      </p:sp>
      <p:sp>
        <p:nvSpPr>
          <p:cNvPr id="6" name="Text 4"/>
          <p:cNvSpPr txBox="1"/>
          <p:nvPr/>
        </p:nvSpPr>
        <p:spPr>
          <a:xfrm>
            <a:off x="640080" y="2816352"/>
            <a:ext cx="420624" cy="420624"/>
          </a:xfrm>
          <a:prstGeom prst="rect">
            <a:avLst/>
          </a:prstGeom>
          <a:noFill/>
          <a:ln/>
        </p:spPr>
        <p:txBody>
          <a:bodyPr wrap="square" lIns="0" tIns="0" rIns="0" bIns="0" rtlCol="0" anchor="ctr"/>
          <a:lstStyle/>
          <a:p>
            <a:pPr algn="ctr" indent="0" marL="0">
              <a:buNone/>
            </a:pPr>
            <a:r>
              <a:rPr lang="en-US" sz="1400" b="1" dirty="0">
                <a:solidFill>
                  <a:srgbClr val="06313A"/>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280160" y="2798064"/>
            <a:ext cx="6035040" cy="292608"/>
          </a:xfrm>
          <a:prstGeom prst="rect">
            <a:avLst/>
          </a:prstGeom>
          <a:noFill/>
          <a:ln/>
        </p:spPr>
        <p:txBody>
          <a:bodyPr wrap="square" lIns="0" tIns="0" rIns="0" bIns="0" rtlCol="0" anchor="ctr"/>
          <a:lstStyle/>
          <a:p>
            <a:pPr indent="0" marL="0">
              <a:buNone/>
            </a:pPr>
            <a:r>
              <a:rPr lang="en-US" sz="1500" b="1" dirty="0">
                <a:solidFill>
                  <a:srgbClr val="06313A"/>
                </a:solidFill>
                <a:latin typeface="Calibri" pitchFamily="34" charset="0"/>
                <a:ea typeface="Calibri" pitchFamily="34" charset="-122"/>
                <a:cs typeface="Calibri" pitchFamily="34" charset="-120"/>
              </a:rPr>
              <a:t>It's cheap on purpose</a:t>
            </a:r>
            <a:endParaRPr lang="en-US" sz="1500" dirty="0"/>
          </a:p>
        </p:txBody>
      </p:sp>
      <p:sp>
        <p:nvSpPr>
          <p:cNvPr id="8" name="Text 6"/>
          <p:cNvSpPr txBox="1"/>
          <p:nvPr/>
        </p:nvSpPr>
        <p:spPr>
          <a:xfrm>
            <a:off x="1280160" y="3099816"/>
            <a:ext cx="6035040" cy="411480"/>
          </a:xfrm>
          <a:prstGeom prst="rect">
            <a:avLst/>
          </a:prstGeom>
          <a:noFill/>
          <a:ln/>
        </p:spPr>
        <p:txBody>
          <a:bodyPr wrap="square" lIns="0" tIns="0" rIns="0" bIns="0" rtlCol="0" anchor="ctr"/>
          <a:lstStyle/>
          <a:p>
            <a:pPr indent="0" marL="0">
              <a:lnSpc>
                <a:spcPts val="1600"/>
              </a:lnSpc>
              <a:buNone/>
            </a:pPr>
            <a:r>
              <a:rPr lang="en-US" sz="1250" dirty="0">
                <a:solidFill>
                  <a:srgbClr val="70898F"/>
                </a:solidFill>
                <a:latin typeface="Calibri" pitchFamily="34" charset="0"/>
                <a:ea typeface="Calibri" pitchFamily="34" charset="-122"/>
                <a:cs typeface="Calibri" pitchFamily="34" charset="-120"/>
              </a:rPr>
              <a:t>A small, fast model. One thousand judgments costs about 30 cents.</a:t>
            </a:r>
            <a:endParaRPr lang="en-US" sz="1250" dirty="0"/>
          </a:p>
        </p:txBody>
      </p:sp>
      <p:sp>
        <p:nvSpPr>
          <p:cNvPr id="9" name="Shape 7"/>
          <p:cNvSpPr/>
          <p:nvPr/>
        </p:nvSpPr>
        <p:spPr>
          <a:xfrm>
            <a:off x="640080" y="3685032"/>
            <a:ext cx="420624" cy="420624"/>
          </a:xfrm>
          <a:prstGeom prst="ellipse">
            <a:avLst/>
          </a:prstGeom>
          <a:solidFill>
            <a:srgbClr val="02C39A"/>
          </a:solidFill>
          <a:ln w="12700">
            <a:solidFill>
              <a:srgbClr val="02C39A"/>
            </a:solidFill>
            <a:prstDash val="solid"/>
          </a:ln>
        </p:spPr>
      </p:sp>
      <p:sp>
        <p:nvSpPr>
          <p:cNvPr id="10" name="Text 8"/>
          <p:cNvSpPr txBox="1"/>
          <p:nvPr/>
        </p:nvSpPr>
        <p:spPr>
          <a:xfrm>
            <a:off x="640080" y="3685032"/>
            <a:ext cx="420624" cy="420624"/>
          </a:xfrm>
          <a:prstGeom prst="rect">
            <a:avLst/>
          </a:prstGeom>
          <a:noFill/>
          <a:ln/>
        </p:spPr>
        <p:txBody>
          <a:bodyPr wrap="square" lIns="0" tIns="0" rIns="0" bIns="0" rtlCol="0" anchor="ctr"/>
          <a:lstStyle/>
          <a:p>
            <a:pPr algn="ctr" indent="0" marL="0">
              <a:buNone/>
            </a:pPr>
            <a:r>
              <a:rPr lang="en-US" sz="1400" b="1" dirty="0">
                <a:solidFill>
                  <a:srgbClr val="06313A"/>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280160" y="3666744"/>
            <a:ext cx="6035040" cy="292608"/>
          </a:xfrm>
          <a:prstGeom prst="rect">
            <a:avLst/>
          </a:prstGeom>
          <a:noFill/>
          <a:ln/>
        </p:spPr>
        <p:txBody>
          <a:bodyPr wrap="square" lIns="0" tIns="0" rIns="0" bIns="0" rtlCol="0" anchor="ctr"/>
          <a:lstStyle/>
          <a:p>
            <a:pPr indent="0" marL="0">
              <a:buNone/>
            </a:pPr>
            <a:r>
              <a:rPr lang="en-US" sz="1500" b="1" dirty="0">
                <a:solidFill>
                  <a:srgbClr val="06313A"/>
                </a:solidFill>
                <a:latin typeface="Calibri" pitchFamily="34" charset="0"/>
                <a:ea typeface="Calibri" pitchFamily="34" charset="-122"/>
                <a:cs typeface="Calibri" pitchFamily="34" charset="-120"/>
              </a:rPr>
              <a:t>It answers in a fixed format</a:t>
            </a:r>
            <a:endParaRPr lang="en-US" sz="1500" dirty="0"/>
          </a:p>
        </p:txBody>
      </p:sp>
      <p:sp>
        <p:nvSpPr>
          <p:cNvPr id="12" name="Text 10"/>
          <p:cNvSpPr txBox="1"/>
          <p:nvPr/>
        </p:nvSpPr>
        <p:spPr>
          <a:xfrm>
            <a:off x="1280160" y="3968496"/>
            <a:ext cx="6035040" cy="411480"/>
          </a:xfrm>
          <a:prstGeom prst="rect">
            <a:avLst/>
          </a:prstGeom>
          <a:noFill/>
          <a:ln/>
        </p:spPr>
        <p:txBody>
          <a:bodyPr wrap="square" lIns="0" tIns="0" rIns="0" bIns="0" rtlCol="0" anchor="ctr"/>
          <a:lstStyle/>
          <a:p>
            <a:pPr indent="0" marL="0">
              <a:lnSpc>
                <a:spcPts val="1600"/>
              </a:lnSpc>
              <a:buNone/>
            </a:pPr>
            <a:r>
              <a:rPr lang="en-US" sz="1250" dirty="0">
                <a:solidFill>
                  <a:srgbClr val="70898F"/>
                </a:solidFill>
                <a:latin typeface="Calibri" pitchFamily="34" charset="0"/>
                <a:ea typeface="Calibri" pitchFamily="34" charset="-122"/>
                <a:cs typeface="Calibri" pitchFamily="34" charset="-120"/>
              </a:rPr>
              <a:t>Numbers keyed to papers — not prose we'd have to parse and hope.</a:t>
            </a:r>
            <a:endParaRPr lang="en-US" sz="1250" dirty="0"/>
          </a:p>
        </p:txBody>
      </p:sp>
      <p:sp>
        <p:nvSpPr>
          <p:cNvPr id="13" name="Shape 11"/>
          <p:cNvSpPr/>
          <p:nvPr/>
        </p:nvSpPr>
        <p:spPr>
          <a:xfrm>
            <a:off x="640080" y="4553712"/>
            <a:ext cx="420624" cy="420624"/>
          </a:xfrm>
          <a:prstGeom prst="ellipse">
            <a:avLst/>
          </a:prstGeom>
          <a:solidFill>
            <a:srgbClr val="02C39A"/>
          </a:solidFill>
          <a:ln w="12700">
            <a:solidFill>
              <a:srgbClr val="02C39A"/>
            </a:solidFill>
            <a:prstDash val="solid"/>
          </a:ln>
        </p:spPr>
      </p:sp>
      <p:sp>
        <p:nvSpPr>
          <p:cNvPr id="14" name="Text 12"/>
          <p:cNvSpPr txBox="1"/>
          <p:nvPr/>
        </p:nvSpPr>
        <p:spPr>
          <a:xfrm>
            <a:off x="640080" y="4553712"/>
            <a:ext cx="420624" cy="420624"/>
          </a:xfrm>
          <a:prstGeom prst="rect">
            <a:avLst/>
          </a:prstGeom>
          <a:noFill/>
          <a:ln/>
        </p:spPr>
        <p:txBody>
          <a:bodyPr wrap="square" lIns="0" tIns="0" rIns="0" bIns="0" rtlCol="0" anchor="ctr"/>
          <a:lstStyle/>
          <a:p>
            <a:pPr algn="ctr" indent="0" marL="0">
              <a:buNone/>
            </a:pPr>
            <a:r>
              <a:rPr lang="en-US" sz="1400" b="1" dirty="0">
                <a:solidFill>
                  <a:srgbClr val="06313A"/>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1280160" y="4535424"/>
            <a:ext cx="6035040" cy="292608"/>
          </a:xfrm>
          <a:prstGeom prst="rect">
            <a:avLst/>
          </a:prstGeom>
          <a:noFill/>
          <a:ln/>
        </p:spPr>
        <p:txBody>
          <a:bodyPr wrap="square" lIns="0" tIns="0" rIns="0" bIns="0" rtlCol="0" anchor="ctr"/>
          <a:lstStyle/>
          <a:p>
            <a:pPr indent="0" marL="0">
              <a:buNone/>
            </a:pPr>
            <a:r>
              <a:rPr lang="en-US" sz="1500" b="1" dirty="0">
                <a:solidFill>
                  <a:srgbClr val="06313A"/>
                </a:solidFill>
                <a:latin typeface="Calibri" pitchFamily="34" charset="0"/>
                <a:ea typeface="Calibri" pitchFamily="34" charset="-122"/>
                <a:cs typeface="Calibri" pitchFamily="34" charset="-120"/>
              </a:rPr>
              <a:t>It never sees the full paper</a:t>
            </a:r>
            <a:endParaRPr lang="en-US" sz="1500" dirty="0"/>
          </a:p>
        </p:txBody>
      </p:sp>
      <p:sp>
        <p:nvSpPr>
          <p:cNvPr id="16" name="Text 14"/>
          <p:cNvSpPr txBox="1"/>
          <p:nvPr/>
        </p:nvSpPr>
        <p:spPr>
          <a:xfrm>
            <a:off x="1280160" y="4837176"/>
            <a:ext cx="6035040" cy="411480"/>
          </a:xfrm>
          <a:prstGeom prst="rect">
            <a:avLst/>
          </a:prstGeom>
          <a:noFill/>
          <a:ln/>
        </p:spPr>
        <p:txBody>
          <a:bodyPr wrap="square" lIns="0" tIns="0" rIns="0" bIns="0" rtlCol="0" anchor="ctr"/>
          <a:lstStyle/>
          <a:p>
            <a:pPr indent="0" marL="0">
              <a:lnSpc>
                <a:spcPts val="1600"/>
              </a:lnSpc>
              <a:buNone/>
            </a:pPr>
            <a:r>
              <a:rPr lang="en-US" sz="1250" dirty="0">
                <a:solidFill>
                  <a:srgbClr val="70898F"/>
                </a:solidFill>
                <a:latin typeface="Calibri" pitchFamily="34" charset="0"/>
                <a:ea typeface="Calibri" pitchFamily="34" charset="-122"/>
                <a:cs typeface="Calibri" pitchFamily="34" charset="-120"/>
              </a:rPr>
              <a:t>Title, abstract and metadata only. No scraping, no paywalls.</a:t>
            </a:r>
            <a:endParaRPr lang="en-US" sz="1250" dirty="0"/>
          </a:p>
        </p:txBody>
      </p:sp>
      <p:sp>
        <p:nvSpPr>
          <p:cNvPr id="17" name="Shape 15"/>
          <p:cNvSpPr/>
          <p:nvPr/>
        </p:nvSpPr>
        <p:spPr>
          <a:xfrm>
            <a:off x="7818120" y="1746504"/>
            <a:ext cx="3730752" cy="3429000"/>
          </a:xfrm>
          <a:prstGeom prst="roundRect">
            <a:avLst>
              <a:gd name="adj" fmla="val 2667"/>
            </a:avLst>
          </a:prstGeom>
          <a:solidFill>
            <a:srgbClr val="06313A"/>
          </a:solidFill>
          <a:ln w="12700">
            <a:solidFill>
              <a:srgbClr val="06313A"/>
            </a:solidFill>
            <a:prstDash val="solid"/>
          </a:ln>
          <a:effectLst>
            <a:outerShdw sx="100000" sy="100000" kx="0" ky="0" algn="bl" rotWithShape="0" blurRad="127000" dist="762" dir="5400000">
              <a:srgbClr val="000000">
                <a:alpha val="12000"/>
              </a:srgbClr>
            </a:outerShdw>
          </a:effectLst>
        </p:spPr>
      </p:sp>
      <p:sp>
        <p:nvSpPr>
          <p:cNvPr id="18" name="Text 16"/>
          <p:cNvSpPr txBox="1"/>
          <p:nvPr/>
        </p:nvSpPr>
        <p:spPr>
          <a:xfrm>
            <a:off x="8092440" y="2020824"/>
            <a:ext cx="3200400" cy="274320"/>
          </a:xfrm>
          <a:prstGeom prst="rect">
            <a:avLst/>
          </a:prstGeom>
          <a:noFill/>
          <a:ln/>
        </p:spPr>
        <p:txBody>
          <a:bodyPr wrap="square" lIns="0" tIns="0" rIns="0" bIns="0" rtlCol="0" anchor="ctr"/>
          <a:lstStyle/>
          <a:p>
            <a:pPr indent="0" marL="0">
              <a:buNone/>
            </a:pPr>
            <a:r>
              <a:rPr lang="en-US" sz="1200" b="1" spc="150" kern="0" dirty="0">
                <a:solidFill>
                  <a:srgbClr val="02C39A"/>
                </a:solidFill>
                <a:latin typeface="Calibri" pitchFamily="34" charset="0"/>
                <a:ea typeface="Calibri" pitchFamily="34" charset="-122"/>
                <a:cs typeface="Calibri" pitchFamily="34" charset="-120"/>
              </a:rPr>
              <a:t>What the model is asked</a:t>
            </a:r>
            <a:endParaRPr lang="en-US" sz="1200" dirty="0"/>
          </a:p>
        </p:txBody>
      </p:sp>
      <p:sp>
        <p:nvSpPr>
          <p:cNvPr id="19" name="Text 17"/>
          <p:cNvSpPr txBox="1"/>
          <p:nvPr/>
        </p:nvSpPr>
        <p:spPr>
          <a:xfrm>
            <a:off x="8092440" y="2459736"/>
            <a:ext cx="3200400" cy="2468880"/>
          </a:xfrm>
          <a:prstGeom prst="rect">
            <a:avLst/>
          </a:prstGeom>
          <a:noFill/>
          <a:ln/>
        </p:spPr>
        <p:txBody>
          <a:bodyPr wrap="square" lIns="0" tIns="0" rIns="0" bIns="0" rtlCol="0" anchor="ctr"/>
          <a:lstStyle/>
          <a:p>
            <a:pPr indent="0" marL="0">
              <a:lnSpc>
                <a:spcPts val="2000"/>
              </a:lnSpc>
              <a:buNone/>
            </a:pPr>
            <a:r>
              <a:rPr lang="en-US" sz="1350" dirty="0">
                <a:solidFill>
                  <a:srgbClr val="FFFFFF"/>
                </a:solidFill>
                <a:latin typeface="Calibri" pitchFamily="34" charset="0"/>
                <a:ea typeface="Calibri" pitchFamily="34" charset="-122"/>
                <a:cs typeface="Calibri" pitchFamily="34" charset="-120"/>
              </a:rPr>
              <a:t>“Here are 25 papers. Here is what this</a:t>
            </a:r>
            <a:endParaRPr lang="en-US" sz="1350" dirty="0"/>
          </a:p>
          <a:p>
            <a:pPr indent="0" marL="0">
              <a:lnSpc>
                <a:spcPts val="2000"/>
              </a:lnSpc>
              <a:buNone/>
            </a:pPr>
            <a:r>
              <a:rPr lang="en-US" sz="1350" dirty="0">
                <a:solidFill>
                  <a:srgbClr val="FFFFFF"/>
                </a:solidFill>
                <a:latin typeface="Calibri" pitchFamily="34" charset="0"/>
                <a:ea typeface="Calibri" pitchFamily="34" charset="-122"/>
                <a:cs typeface="Calibri" pitchFamily="34" charset="-120"/>
              </a:rPr>
              <a:t>topic covers, in plain English.</a:t>
            </a:r>
            <a:endParaRPr lang="en-US" sz="1350" dirty="0"/>
          </a:p>
          <a:p>
            <a:pPr indent="0" marL="0">
              <a:lnSpc>
                <a:spcPts val="2000"/>
              </a:lnSpc>
              <a:buNone/>
            </a:pPr>
            <a:endParaRPr lang="en-US" sz="1350" dirty="0"/>
          </a:p>
          <a:p>
            <a:pPr indent="0" marL="0">
              <a:lnSpc>
                <a:spcPts val="2000"/>
              </a:lnSpc>
              <a:buNone/>
            </a:pPr>
            <a:r>
              <a:rPr lang="en-US" sz="1350" dirty="0">
                <a:solidFill>
                  <a:srgbClr val="FFFFFF"/>
                </a:solidFill>
                <a:latin typeface="Calibri" pitchFamily="34" charset="0"/>
                <a:ea typeface="Calibri" pitchFamily="34" charset="-122"/>
                <a:cs typeface="Calibri" pitchFamily="34" charset="-120"/>
              </a:rPr>
              <a:t>Give each paper a score from 0 to 5 for</a:t>
            </a:r>
            <a:endParaRPr lang="en-US" sz="1350" dirty="0"/>
          </a:p>
          <a:p>
            <a:pPr indent="0" marL="0">
              <a:lnSpc>
                <a:spcPts val="2000"/>
              </a:lnSpc>
              <a:buNone/>
            </a:pPr>
            <a:r>
              <a:rPr lang="en-US" sz="1350" dirty="0">
                <a:solidFill>
                  <a:srgbClr val="FFFFFF"/>
                </a:solidFill>
                <a:latin typeface="Calibri" pitchFamily="34" charset="0"/>
                <a:ea typeface="Calibri" pitchFamily="34" charset="-122"/>
                <a:cs typeface="Calibri" pitchFamily="34" charset="-120"/>
              </a:rPr>
              <a:t>how well it fits, keyed by its number.</a:t>
            </a:r>
            <a:endParaRPr lang="en-US" sz="1350" dirty="0"/>
          </a:p>
          <a:p>
            <a:pPr indent="0" marL="0">
              <a:lnSpc>
                <a:spcPts val="2000"/>
              </a:lnSpc>
              <a:buNone/>
            </a:pPr>
            <a:endParaRPr lang="en-US" sz="1350" dirty="0"/>
          </a:p>
          <a:p>
            <a:pPr indent="0" marL="0">
              <a:lnSpc>
                <a:spcPts val="2000"/>
              </a:lnSpc>
              <a:buNone/>
            </a:pPr>
            <a:r>
              <a:rPr lang="en-US" sz="1350" dirty="0">
                <a:solidFill>
                  <a:srgbClr val="FFFFFF"/>
                </a:solidFill>
                <a:latin typeface="Calibri" pitchFamily="34" charset="0"/>
                <a:ea typeface="Calibri" pitchFamily="34" charset="-122"/>
                <a:cs typeface="Calibri" pitchFamily="34" charset="-120"/>
              </a:rPr>
              <a:t>If an abstract is too thin to judge,</a:t>
            </a:r>
            <a:endParaRPr lang="en-US" sz="1350" dirty="0"/>
          </a:p>
          <a:p>
            <a:pPr indent="0" marL="0">
              <a:lnSpc>
                <a:spcPts val="2000"/>
              </a:lnSpc>
              <a:buNone/>
            </a:pPr>
            <a:r>
              <a:rPr lang="en-US" sz="1350" dirty="0">
                <a:solidFill>
                  <a:srgbClr val="FFFFFF"/>
                </a:solidFill>
                <a:latin typeface="Calibri" pitchFamily="34" charset="0"/>
                <a:ea typeface="Calibri" pitchFamily="34" charset="-122"/>
                <a:cs typeface="Calibri" pitchFamily="34" charset="-120"/>
              </a:rPr>
              <a:t>say so — don't guess.”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WHAT MAKES IT WORK</a:t>
            </a:r>
            <a:endParaRPr lang="en-US" sz="1200" dirty="0"/>
          </a:p>
        </p:txBody>
      </p:sp>
      <p:sp>
        <p:nvSpPr>
          <p:cNvPr id="3" name="Text 1"/>
          <p:cNvSpPr txBox="1"/>
          <p:nvPr/>
        </p:nvSpPr>
        <p:spPr>
          <a:xfrm>
            <a:off x="640080" y="786384"/>
            <a:ext cx="10911535" cy="868680"/>
          </a:xfrm>
          <a:prstGeom prst="rect">
            <a:avLst/>
          </a:prstGeom>
          <a:noFill/>
          <a:ln/>
        </p:spPr>
        <p:txBody>
          <a:bodyPr wrap="square" lIns="0" tIns="0" rIns="0" bIns="0" rtlCol="0" anchor="t"/>
          <a:lstStyle/>
          <a:p>
            <a:pPr indent="0" marL="0">
              <a:buNone/>
            </a:pPr>
            <a:r>
              <a:rPr lang="en-US" sz="3200" b="1" dirty="0">
                <a:solidFill>
                  <a:srgbClr val="06313A"/>
                </a:solidFill>
                <a:latin typeface="Cambria" pitchFamily="34" charset="0"/>
                <a:ea typeface="Cambria" pitchFamily="34" charset="-122"/>
                <a:cs typeface="Cambria" pitchFamily="34" charset="-120"/>
              </a:rPr>
              <a:t>The topic description is the product</a:t>
            </a:r>
            <a:endParaRPr lang="en-US" sz="3200" dirty="0"/>
          </a:p>
        </p:txBody>
      </p:sp>
      <p:sp>
        <p:nvSpPr>
          <p:cNvPr id="4" name="Text 2"/>
          <p:cNvSpPr txBox="1"/>
          <p:nvPr/>
        </p:nvSpPr>
        <p:spPr>
          <a:xfrm>
            <a:off x="640080" y="1746504"/>
            <a:ext cx="5943600" cy="1280160"/>
          </a:xfrm>
          <a:prstGeom prst="rect">
            <a:avLst/>
          </a:prstGeom>
          <a:noFill/>
          <a:ln/>
        </p:spPr>
        <p:txBody>
          <a:bodyPr wrap="square" lIns="0" tIns="0" rIns="0" bIns="0" rtlCol="0" anchor="ctr"/>
          <a:lstStyle/>
          <a:p>
            <a:pPr indent="0" marL="0">
              <a:lnSpc>
                <a:spcPts val="2300"/>
              </a:lnSpc>
              <a:buNone/>
            </a:pPr>
            <a:r>
              <a:rPr lang="en-US" sz="1600" dirty="0">
                <a:solidFill>
                  <a:srgbClr val="33474D"/>
                </a:solidFill>
                <a:latin typeface="Calibri" pitchFamily="34" charset="0"/>
                <a:ea typeface="Calibri" pitchFamily="34" charset="-122"/>
                <a:cs typeface="Calibri" pitchFamily="34" charset="-120"/>
              </a:rPr>
              <a:t>Each topic is one entry in a settings file — a name, a cap, and a paragraph describing what belongs. That paragraph is written for the model to read, and it lives in version control like any other code.</a:t>
            </a:r>
            <a:endParaRPr lang="en-US" sz="1600" dirty="0"/>
          </a:p>
        </p:txBody>
      </p:sp>
      <p:sp>
        <p:nvSpPr>
          <p:cNvPr id="5" name="Shape 3"/>
          <p:cNvSpPr/>
          <p:nvPr/>
        </p:nvSpPr>
        <p:spPr>
          <a:xfrm>
            <a:off x="676656" y="3255264"/>
            <a:ext cx="146304" cy="146304"/>
          </a:xfrm>
          <a:prstGeom prst="ellipse">
            <a:avLst/>
          </a:prstGeom>
          <a:solidFill>
            <a:srgbClr val="02C39A"/>
          </a:solidFill>
          <a:ln w="12700">
            <a:solidFill>
              <a:srgbClr val="02C39A"/>
            </a:solidFill>
            <a:prstDash val="solid"/>
          </a:ln>
        </p:spPr>
      </p:sp>
      <p:sp>
        <p:nvSpPr>
          <p:cNvPr id="6" name="Text 4"/>
          <p:cNvSpPr txBox="1"/>
          <p:nvPr/>
        </p:nvSpPr>
        <p:spPr>
          <a:xfrm>
            <a:off x="1024128" y="3163824"/>
            <a:ext cx="5577840" cy="457200"/>
          </a:xfrm>
          <a:prstGeom prst="rect">
            <a:avLst/>
          </a:prstGeom>
          <a:noFill/>
          <a:ln/>
        </p:spPr>
        <p:txBody>
          <a:bodyPr wrap="square" lIns="0" tIns="0" rIns="0" bIns="0" rtlCol="0" anchor="ctr"/>
          <a:lstStyle/>
          <a:p>
            <a:pPr indent="0" marL="0">
              <a:lnSpc>
                <a:spcPts val="1900"/>
              </a:lnSpc>
              <a:buNone/>
            </a:pPr>
            <a:r>
              <a:rPr lang="en-US" sz="1400" dirty="0">
                <a:solidFill>
                  <a:srgbClr val="06313A"/>
                </a:solidFill>
                <a:latin typeface="Calibri" pitchFamily="34" charset="0"/>
                <a:ea typeface="Calibri" pitchFamily="34" charset="-122"/>
                <a:cs typeface="Calibri" pitchFamily="34" charset="-120"/>
              </a:rPr>
              <a:t>Adding a new topic is one entry. No code changes.</a:t>
            </a:r>
            <a:endParaRPr lang="en-US" sz="1400" dirty="0"/>
          </a:p>
        </p:txBody>
      </p:sp>
      <p:sp>
        <p:nvSpPr>
          <p:cNvPr id="7" name="Shape 5"/>
          <p:cNvSpPr/>
          <p:nvPr/>
        </p:nvSpPr>
        <p:spPr>
          <a:xfrm>
            <a:off x="676656" y="3822192"/>
            <a:ext cx="146304" cy="146304"/>
          </a:xfrm>
          <a:prstGeom prst="ellipse">
            <a:avLst/>
          </a:prstGeom>
          <a:solidFill>
            <a:srgbClr val="02C39A"/>
          </a:solidFill>
          <a:ln w="12700">
            <a:solidFill>
              <a:srgbClr val="02C39A"/>
            </a:solidFill>
            <a:prstDash val="solid"/>
          </a:ln>
        </p:spPr>
      </p:sp>
      <p:sp>
        <p:nvSpPr>
          <p:cNvPr id="8" name="Text 6"/>
          <p:cNvSpPr txBox="1"/>
          <p:nvPr/>
        </p:nvSpPr>
        <p:spPr>
          <a:xfrm>
            <a:off x="1024128" y="3730752"/>
            <a:ext cx="5577840" cy="457200"/>
          </a:xfrm>
          <a:prstGeom prst="rect">
            <a:avLst/>
          </a:prstGeom>
          <a:noFill/>
          <a:ln/>
        </p:spPr>
        <p:txBody>
          <a:bodyPr wrap="square" lIns="0" tIns="0" rIns="0" bIns="0" rtlCol="0" anchor="ctr"/>
          <a:lstStyle/>
          <a:p>
            <a:pPr indent="0" marL="0">
              <a:lnSpc>
                <a:spcPts val="1900"/>
              </a:lnSpc>
              <a:buNone/>
            </a:pPr>
            <a:r>
              <a:rPr lang="en-US" sz="1400" dirty="0">
                <a:solidFill>
                  <a:srgbClr val="06313A"/>
                </a:solidFill>
                <a:latin typeface="Calibri" pitchFamily="34" charset="0"/>
                <a:ea typeface="Calibri" pitchFamily="34" charset="-122"/>
                <a:cs typeface="Calibri" pitchFamily="34" charset="-120"/>
              </a:rPr>
              <a:t>When a topic goes wrong, you fix the paragraph, not the program.</a:t>
            </a:r>
            <a:endParaRPr lang="en-US" sz="1400" dirty="0"/>
          </a:p>
        </p:txBody>
      </p:sp>
      <p:sp>
        <p:nvSpPr>
          <p:cNvPr id="9" name="Shape 7"/>
          <p:cNvSpPr/>
          <p:nvPr/>
        </p:nvSpPr>
        <p:spPr>
          <a:xfrm>
            <a:off x="676656" y="4389120"/>
            <a:ext cx="146304" cy="146304"/>
          </a:xfrm>
          <a:prstGeom prst="ellipse">
            <a:avLst/>
          </a:prstGeom>
          <a:solidFill>
            <a:srgbClr val="02C39A"/>
          </a:solidFill>
          <a:ln w="12700">
            <a:solidFill>
              <a:srgbClr val="02C39A"/>
            </a:solidFill>
            <a:prstDash val="solid"/>
          </a:ln>
        </p:spPr>
      </p:sp>
      <p:sp>
        <p:nvSpPr>
          <p:cNvPr id="10" name="Text 8"/>
          <p:cNvSpPr txBox="1"/>
          <p:nvPr/>
        </p:nvSpPr>
        <p:spPr>
          <a:xfrm>
            <a:off x="1024128" y="4297680"/>
            <a:ext cx="5577840" cy="457200"/>
          </a:xfrm>
          <a:prstGeom prst="rect">
            <a:avLst/>
          </a:prstGeom>
          <a:noFill/>
          <a:ln/>
        </p:spPr>
        <p:txBody>
          <a:bodyPr wrap="square" lIns="0" tIns="0" rIns="0" bIns="0" rtlCol="0" anchor="ctr"/>
          <a:lstStyle/>
          <a:p>
            <a:pPr indent="0" marL="0">
              <a:lnSpc>
                <a:spcPts val="1900"/>
              </a:lnSpc>
              <a:buNone/>
            </a:pPr>
            <a:r>
              <a:rPr lang="en-US" sz="1400" dirty="0">
                <a:solidFill>
                  <a:srgbClr val="06313A"/>
                </a:solidFill>
                <a:latin typeface="Calibri" pitchFamily="34" charset="0"/>
                <a:ea typeface="Calibri" pitchFamily="34" charset="-122"/>
                <a:cs typeface="Calibri" pitchFamily="34" charset="-120"/>
              </a:rPr>
              <a:t>Changes are reviewable in a diff, like everything else.</a:t>
            </a:r>
            <a:endParaRPr lang="en-US" sz="1400" dirty="0"/>
          </a:p>
        </p:txBody>
      </p:sp>
      <p:sp>
        <p:nvSpPr>
          <p:cNvPr id="11" name="Shape 9"/>
          <p:cNvSpPr/>
          <p:nvPr/>
        </p:nvSpPr>
        <p:spPr>
          <a:xfrm>
            <a:off x="6949440" y="1746504"/>
            <a:ext cx="4599432" cy="3246120"/>
          </a:xfrm>
          <a:prstGeom prst="roundRect">
            <a:avLst>
              <a:gd name="adj" fmla="val 2817"/>
            </a:avLst>
          </a:prstGeom>
          <a:solidFill>
            <a:srgbClr val="06313A"/>
          </a:solidFill>
          <a:ln w="12700">
            <a:solidFill>
              <a:srgbClr val="06313A"/>
            </a:solidFill>
            <a:prstDash val="solid"/>
          </a:ln>
          <a:effectLst>
            <a:outerShdw sx="100000" sy="100000" kx="0" ky="0" algn="bl" rotWithShape="0" blurRad="127000" dist="762" dir="5400000">
              <a:srgbClr val="000000">
                <a:alpha val="12000"/>
              </a:srgbClr>
            </a:outerShdw>
          </a:effectLst>
        </p:spPr>
      </p:sp>
      <p:sp>
        <p:nvSpPr>
          <p:cNvPr id="12" name="Text 10"/>
          <p:cNvSpPr txBox="1"/>
          <p:nvPr/>
        </p:nvSpPr>
        <p:spPr>
          <a:xfrm>
            <a:off x="7269480" y="2002536"/>
            <a:ext cx="4023360" cy="274320"/>
          </a:xfrm>
          <a:prstGeom prst="rect">
            <a:avLst/>
          </a:prstGeom>
          <a:noFill/>
          <a:ln/>
        </p:spPr>
        <p:txBody>
          <a:bodyPr wrap="square" lIns="0" tIns="0" rIns="0" bIns="0" rtlCol="0" anchor="ctr"/>
          <a:lstStyle/>
          <a:p>
            <a:pPr indent="0" marL="0">
              <a:buNone/>
            </a:pPr>
            <a:r>
              <a:rPr lang="en-US" sz="1200" b="1" spc="150" kern="0" dirty="0">
                <a:solidFill>
                  <a:srgbClr val="02C39A"/>
                </a:solidFill>
                <a:latin typeface="Calibri" pitchFamily="34" charset="0"/>
                <a:ea typeface="Calibri" pitchFamily="34" charset="-122"/>
                <a:cs typeface="Calibri" pitchFamily="34" charset="-120"/>
              </a:rPr>
              <a:t>One topic, in full</a:t>
            </a:r>
            <a:endParaRPr lang="en-US" sz="1200" dirty="0"/>
          </a:p>
        </p:txBody>
      </p:sp>
      <p:sp>
        <p:nvSpPr>
          <p:cNvPr id="13" name="Text 11"/>
          <p:cNvSpPr txBox="1"/>
          <p:nvPr/>
        </p:nvSpPr>
        <p:spPr>
          <a:xfrm>
            <a:off x="7269480" y="2404872"/>
            <a:ext cx="4023360" cy="2377440"/>
          </a:xfrm>
          <a:prstGeom prst="rect">
            <a:avLst/>
          </a:prstGeom>
          <a:noFill/>
          <a:ln/>
        </p:spPr>
        <p:txBody>
          <a:bodyPr wrap="square" lIns="0" tIns="0" rIns="0" bIns="0" rtlCol="0" anchor="ctr"/>
          <a:lstStyle/>
          <a:p>
            <a:pPr indent="0" marL="0">
              <a:lnSpc>
                <a:spcPts val="1700"/>
              </a:lnSpc>
              <a:buNone/>
            </a:pPr>
            <a:r>
              <a:rPr lang="en-US" sz="1150" dirty="0">
                <a:solidFill>
                  <a:srgbClr val="D9EDEF"/>
                </a:solidFill>
                <a:latin typeface="Courier New" pitchFamily="34" charset="0"/>
                <a:ea typeface="Courier New" pitchFamily="34" charset="-122"/>
                <a:cs typeface="Courier New" pitchFamily="34" charset="-120"/>
              </a:rPr>
              <a:t>name:  Modeling &amp; Machine Learning</a:t>
            </a:r>
            <a:endParaRPr lang="en-US" sz="1150" dirty="0"/>
          </a:p>
          <a:p>
            <a:pPr indent="0" marL="0">
              <a:lnSpc>
                <a:spcPts val="1700"/>
              </a:lnSpc>
              <a:buNone/>
            </a:pPr>
            <a:r>
              <a:rPr lang="en-US" sz="1150" dirty="0">
                <a:solidFill>
                  <a:srgbClr val="D9EDEF"/>
                </a:solidFill>
                <a:latin typeface="Courier New" pitchFamily="34" charset="0"/>
                <a:ea typeface="Courier New" pitchFamily="34" charset="-122"/>
                <a:cs typeface="Courier New" pitchFamily="34" charset="-120"/>
              </a:rPr>
              <a:t>cap:   15 papers</a:t>
            </a:r>
            <a:endParaRPr lang="en-US" sz="1150" dirty="0"/>
          </a:p>
          <a:p>
            <a:pPr indent="0" marL="0">
              <a:lnSpc>
                <a:spcPts val="1700"/>
              </a:lnSpc>
              <a:buNone/>
            </a:pPr>
            <a:endParaRPr lang="en-US" sz="1150" dirty="0"/>
          </a:p>
          <a:p>
            <a:pPr indent="0" marL="0">
              <a:lnSpc>
                <a:spcPts val="1700"/>
              </a:lnSpc>
              <a:buNone/>
            </a:pPr>
            <a:r>
              <a:rPr lang="en-US" sz="1150" dirty="0">
                <a:solidFill>
                  <a:srgbClr val="D9EDEF"/>
                </a:solidFill>
                <a:latin typeface="Courier New" pitchFamily="34" charset="0"/>
                <a:ea typeface="Courier New" pitchFamily="34" charset="-122"/>
                <a:cs typeface="Courier New" pitchFamily="34" charset="-120"/>
              </a:rPr>
              <a:t>scope: Mechanistic and data-driven</a:t>
            </a:r>
            <a:endParaRPr lang="en-US" sz="1150" dirty="0"/>
          </a:p>
          <a:p>
            <a:pPr indent="0" marL="0">
              <a:lnSpc>
                <a:spcPts val="1700"/>
              </a:lnSpc>
              <a:buNone/>
            </a:pPr>
            <a:r>
              <a:rPr lang="en-US" sz="1150" dirty="0">
                <a:solidFill>
                  <a:srgbClr val="D9EDEF"/>
                </a:solidFill>
                <a:latin typeface="Courier New" pitchFamily="34" charset="0"/>
                <a:ea typeface="Courier New" pitchFamily="34" charset="-122"/>
                <a:cs typeface="Courier New" pitchFamily="34" charset="-120"/>
              </a:rPr>
              <a:t>       models of cell culture. Must</a:t>
            </a:r>
            <a:endParaRPr lang="en-US" sz="1150" dirty="0"/>
          </a:p>
          <a:p>
            <a:pPr indent="0" marL="0">
              <a:lnSpc>
                <a:spcPts val="1700"/>
              </a:lnSpc>
              <a:buNone/>
            </a:pPr>
            <a:r>
              <a:rPr lang="en-US" sz="1150" dirty="0">
                <a:solidFill>
                  <a:srgbClr val="D9EDEF"/>
                </a:solidFill>
                <a:latin typeface="Courier New" pitchFamily="34" charset="0"/>
                <a:ea typeface="Courier New" pitchFamily="34" charset="-122"/>
                <a:cs typeface="Courier New" pitchFamily="34" charset="-120"/>
              </a:rPr>
              <a:t>       show an actual bioprocess</a:t>
            </a:r>
            <a:endParaRPr lang="en-US" sz="1150" dirty="0"/>
          </a:p>
          <a:p>
            <a:pPr indent="0" marL="0">
              <a:lnSpc>
                <a:spcPts val="1700"/>
              </a:lnSpc>
              <a:buNone/>
            </a:pPr>
            <a:r>
              <a:rPr lang="en-US" sz="1150" dirty="0">
                <a:solidFill>
                  <a:srgbClr val="D9EDEF"/>
                </a:solidFill>
                <a:latin typeface="Courier New" pitchFamily="34" charset="0"/>
                <a:ea typeface="Courier New" pitchFamily="34" charset="-122"/>
                <a:cs typeface="Courier New" pitchFamily="34" charset="-120"/>
              </a:rPr>
              <a:t>       application — a passing</a:t>
            </a:r>
            <a:endParaRPr lang="en-US" sz="1150" dirty="0"/>
          </a:p>
          <a:p>
            <a:pPr indent="0" marL="0">
              <a:lnSpc>
                <a:spcPts val="1700"/>
              </a:lnSpc>
              <a:buNone/>
            </a:pPr>
            <a:r>
              <a:rPr lang="en-US" sz="1150" dirty="0">
                <a:solidFill>
                  <a:srgbClr val="D9EDEF"/>
                </a:solidFill>
                <a:latin typeface="Courier New" pitchFamily="34" charset="0"/>
                <a:ea typeface="Courier New" pitchFamily="34" charset="-122"/>
                <a:cs typeface="Courier New" pitchFamily="34" charset="-120"/>
              </a:rPr>
              <a:t>       mention of a bioreactor is</a:t>
            </a:r>
            <a:endParaRPr lang="en-US" sz="1150" dirty="0"/>
          </a:p>
          <a:p>
            <a:pPr indent="0" marL="0">
              <a:lnSpc>
                <a:spcPts val="1700"/>
              </a:lnSpc>
              <a:buNone/>
            </a:pPr>
            <a:r>
              <a:rPr lang="en-US" sz="1150" dirty="0">
                <a:solidFill>
                  <a:srgbClr val="D9EDEF"/>
                </a:solidFill>
                <a:latin typeface="Courier New" pitchFamily="34" charset="0"/>
                <a:ea typeface="Courier New" pitchFamily="34" charset="-122"/>
                <a:cs typeface="Courier New" pitchFamily="34" charset="-120"/>
              </a:rPr>
              <a:t>       not enough.</a:t>
            </a:r>
            <a:endParaRPr lang="en-US" sz="1150" dirty="0"/>
          </a:p>
          <a:p>
            <a:pPr indent="0" marL="0">
              <a:lnSpc>
                <a:spcPts val="1700"/>
              </a:lnSpc>
              <a:buNone/>
            </a:pPr>
            <a:endParaRPr lang="en-US" sz="1150" dirty="0"/>
          </a:p>
          <a:p>
            <a:pPr indent="0" marL="0">
              <a:lnSpc>
                <a:spcPts val="1700"/>
              </a:lnSpc>
              <a:buNone/>
            </a:pPr>
            <a:r>
              <a:rPr lang="en-US" sz="1150" dirty="0">
                <a:solidFill>
                  <a:srgbClr val="D9EDEF"/>
                </a:solidFill>
                <a:latin typeface="Courier New" pitchFamily="34" charset="0"/>
                <a:ea typeface="Courier New" pitchFamily="34" charset="-122"/>
                <a:cs typeface="Courier New" pitchFamily="34" charset="-120"/>
              </a:rPr>
              <a:t>queries: ...</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THE HARD QUESTION</a:t>
            </a:r>
            <a:endParaRPr lang="en-US" sz="1200" dirty="0"/>
          </a:p>
        </p:txBody>
      </p:sp>
      <p:sp>
        <p:nvSpPr>
          <p:cNvPr id="3" name="Text 1"/>
          <p:cNvSpPr txBox="1"/>
          <p:nvPr/>
        </p:nvSpPr>
        <p:spPr>
          <a:xfrm>
            <a:off x="640080" y="786384"/>
            <a:ext cx="10911535" cy="868680"/>
          </a:xfrm>
          <a:prstGeom prst="rect">
            <a:avLst/>
          </a:prstGeom>
          <a:noFill/>
          <a:ln/>
        </p:spPr>
        <p:txBody>
          <a:bodyPr wrap="square" lIns="0" tIns="0" rIns="0" bIns="0" rtlCol="0" anchor="t"/>
          <a:lstStyle/>
          <a:p>
            <a:pPr indent="0" marL="0">
              <a:buNone/>
            </a:pPr>
            <a:r>
              <a:rPr lang="en-US" sz="3200" b="1" dirty="0">
                <a:solidFill>
                  <a:srgbClr val="06313A"/>
                </a:solidFill>
                <a:latin typeface="Cambria" pitchFamily="34" charset="0"/>
                <a:ea typeface="Cambria" pitchFamily="34" charset="-122"/>
                <a:cs typeface="Cambria" pitchFamily="34" charset="-120"/>
              </a:rPr>
              <a:t>How do you check a system with no right answers?</a:t>
            </a:r>
            <a:endParaRPr lang="en-US" sz="3200" dirty="0"/>
          </a:p>
        </p:txBody>
      </p:sp>
      <p:graphicFrame>
        <p:nvGraphicFramePr>
          <p:cNvPr id="4" name="Chart 0" descr=""/>
          <p:cNvGraphicFramePr/>
          <p:nvPr/>
        </p:nvGraphicFramePr>
        <p:xfrm>
          <a:off x="640080" y="1746504"/>
          <a:ext cx="594360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949440" y="1746504"/>
            <a:ext cx="4599432" cy="320040"/>
          </a:xfrm>
          <a:prstGeom prst="rect">
            <a:avLst/>
          </a:prstGeom>
          <a:noFill/>
          <a:ln/>
        </p:spPr>
        <p:txBody>
          <a:bodyPr wrap="square" lIns="0" tIns="0" rIns="0" bIns="0" rtlCol="0" anchor="ctr"/>
          <a:lstStyle/>
          <a:p>
            <a:pPr indent="0" marL="0">
              <a:buNone/>
            </a:pPr>
            <a:r>
              <a:rPr lang="en-US" sz="1500" b="1" dirty="0">
                <a:solidFill>
                  <a:srgbClr val="028090"/>
                </a:solidFill>
                <a:latin typeface="Calibri" pitchFamily="34" charset="0"/>
                <a:ea typeface="Calibri" pitchFamily="34" charset="-122"/>
                <a:cs typeface="Calibri" pitchFamily="34" charset="-120"/>
              </a:rPr>
              <a:t>Read the extremes</a:t>
            </a:r>
            <a:endParaRPr lang="en-US" sz="1500" dirty="0"/>
          </a:p>
        </p:txBody>
      </p:sp>
      <p:sp>
        <p:nvSpPr>
          <p:cNvPr id="6" name="Text 3"/>
          <p:cNvSpPr txBox="1"/>
          <p:nvPr/>
        </p:nvSpPr>
        <p:spPr>
          <a:xfrm>
            <a:off x="6949440" y="2112264"/>
            <a:ext cx="4599432" cy="1005840"/>
          </a:xfrm>
          <a:prstGeom prst="rect">
            <a:avLst/>
          </a:prstGeom>
          <a:noFill/>
          <a:ln/>
        </p:spPr>
        <p:txBody>
          <a:bodyPr wrap="square" lIns="0" tIns="0" rIns="0" bIns="0" rtlCol="0" anchor="ctr"/>
          <a:lstStyle/>
          <a:p>
            <a:pPr indent="0" marL="0">
              <a:lnSpc>
                <a:spcPts val="1800"/>
              </a:lnSpc>
              <a:buNone/>
            </a:pPr>
            <a:r>
              <a:rPr lang="en-US" sz="1300" dirty="0">
                <a:solidFill>
                  <a:srgbClr val="33474D"/>
                </a:solidFill>
                <a:latin typeface="Calibri" pitchFamily="34" charset="0"/>
                <a:ea typeface="Calibri" pitchFamily="34" charset="-122"/>
                <a:cs typeface="Calibri" pitchFamily="34" charset="-120"/>
              </a:rPr>
              <a:t>The 5s were all genuinely excellent. The 0s were genuinely junk — microplastics in sludge, cosmetics research.</a:t>
            </a:r>
            <a:endParaRPr lang="en-US" sz="1300" dirty="0"/>
          </a:p>
        </p:txBody>
      </p:sp>
      <p:sp>
        <p:nvSpPr>
          <p:cNvPr id="7" name="Text 4"/>
          <p:cNvSpPr txBox="1"/>
          <p:nvPr/>
        </p:nvSpPr>
        <p:spPr>
          <a:xfrm>
            <a:off x="6949440" y="3255264"/>
            <a:ext cx="4599432" cy="320040"/>
          </a:xfrm>
          <a:prstGeom prst="rect">
            <a:avLst/>
          </a:prstGeom>
          <a:noFill/>
          <a:ln/>
        </p:spPr>
        <p:txBody>
          <a:bodyPr wrap="square" lIns="0" tIns="0" rIns="0" bIns="0" rtlCol="0" anchor="ctr"/>
          <a:lstStyle/>
          <a:p>
            <a:pPr indent="0" marL="0">
              <a:buNone/>
            </a:pPr>
            <a:r>
              <a:rPr lang="en-US" sz="1500" b="1" dirty="0">
                <a:solidFill>
                  <a:srgbClr val="028090"/>
                </a:solidFill>
                <a:latin typeface="Calibri" pitchFamily="34" charset="0"/>
                <a:ea typeface="Calibri" pitchFamily="34" charset="-122"/>
                <a:cs typeface="Calibri" pitchFamily="34" charset="-120"/>
              </a:rPr>
              <a:t>Design one case you already know the answer to</a:t>
            </a:r>
            <a:endParaRPr lang="en-US" sz="1500" dirty="0"/>
          </a:p>
        </p:txBody>
      </p:sp>
      <p:sp>
        <p:nvSpPr>
          <p:cNvPr id="8" name="Text 5"/>
          <p:cNvSpPr txBox="1"/>
          <p:nvPr/>
        </p:nvSpPr>
        <p:spPr>
          <a:xfrm>
            <a:off x="6949440" y="3621024"/>
            <a:ext cx="4599432" cy="1005840"/>
          </a:xfrm>
          <a:prstGeom prst="rect">
            <a:avLst/>
          </a:prstGeom>
          <a:noFill/>
          <a:ln/>
        </p:spPr>
        <p:txBody>
          <a:bodyPr wrap="square" lIns="0" tIns="0" rIns="0" bIns="0" rtlCol="0" anchor="ctr"/>
          <a:lstStyle/>
          <a:p>
            <a:pPr indent="0" marL="0">
              <a:lnSpc>
                <a:spcPts val="1800"/>
              </a:lnSpc>
              <a:buNone/>
            </a:pPr>
            <a:r>
              <a:rPr lang="en-US" sz="1300" dirty="0">
                <a:solidFill>
                  <a:srgbClr val="33474D"/>
                </a:solidFill>
                <a:latin typeface="Calibri" pitchFamily="34" charset="0"/>
                <a:ea typeface="Calibri" pitchFamily="34" charset="-122"/>
                <a:cs typeface="Calibri" pitchFamily="34" charset="-120"/>
              </a:rPr>
              <a:t>A cell-line paper scored 2 under one topic and 5 under another — which is exactly what the two topic descriptions say should happen. That's as close to a unit test as a judgment gets.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313A"/>
        </a:solidFill>
      </p:bgPr>
    </p:bg>
    <p:spTree>
      <p:nvGrpSpPr>
        <p:cNvPr id="1" name=""/>
        <p:cNvGrpSpPr/>
        <p:nvPr/>
      </p:nvGrpSpPr>
      <p:grpSpPr>
        <a:xfrm>
          <a:off x="0" y="0"/>
          <a:ext cx="0" cy="0"/>
          <a:chOff x="0" y="0"/>
          <a:chExt cx="0" cy="0"/>
        </a:xfrm>
      </p:grpSpPr>
      <p:sp>
        <p:nvSpPr>
          <p:cNvPr id="2" name="Shape 0"/>
          <p:cNvSpPr/>
          <p:nvPr/>
        </p:nvSpPr>
        <p:spPr>
          <a:xfrm>
            <a:off x="9692640" y="3474720"/>
            <a:ext cx="4754880" cy="4754880"/>
          </a:xfrm>
          <a:prstGeom prst="ellipse">
            <a:avLst/>
          </a:prstGeom>
          <a:solidFill>
            <a:srgbClr val="0B4550"/>
          </a:solidFill>
          <a:ln w="12700">
            <a:solidFill>
              <a:srgbClr val="0B4550"/>
            </a:solidFill>
            <a:prstDash val="solid"/>
          </a:ln>
        </p:spPr>
      </p:sp>
      <p:sp>
        <p:nvSpPr>
          <p:cNvPr id="3" name="Text 1"/>
          <p:cNvSpPr txBox="1"/>
          <p:nvPr/>
        </p:nvSpPr>
        <p:spPr>
          <a:xfrm>
            <a:off x="640080" y="1234440"/>
            <a:ext cx="10911535" cy="274320"/>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One rule worth stealing</a:t>
            </a:r>
            <a:endParaRPr lang="en-US" sz="1200" dirty="0"/>
          </a:p>
        </p:txBody>
      </p:sp>
      <p:sp>
        <p:nvSpPr>
          <p:cNvPr id="4" name="Text 2"/>
          <p:cNvSpPr txBox="1"/>
          <p:nvPr/>
        </p:nvSpPr>
        <p:spPr>
          <a:xfrm>
            <a:off x="640080" y="1783080"/>
            <a:ext cx="9692640" cy="1463040"/>
          </a:xfrm>
          <a:prstGeom prst="rect">
            <a:avLst/>
          </a:prstGeom>
          <a:noFill/>
          <a:ln/>
        </p:spPr>
        <p:txBody>
          <a:bodyPr wrap="square" lIns="0" tIns="0" rIns="0" bIns="0" rtlCol="0" anchor="ctr"/>
          <a:lstStyle/>
          <a:p>
            <a:pPr indent="0" marL="0">
              <a:lnSpc>
                <a:spcPts val="5000"/>
              </a:lnSpc>
              <a:buNone/>
            </a:pPr>
            <a:r>
              <a:rPr lang="en-US" sz="3600" b="1" dirty="0">
                <a:solidFill>
                  <a:srgbClr val="FFFFFF"/>
                </a:solidFill>
                <a:latin typeface="Cambria" pitchFamily="34" charset="0"/>
                <a:ea typeface="Cambria" pitchFamily="34" charset="-122"/>
                <a:cs typeface="Cambria" pitchFamily="34" charset="-120"/>
              </a:rPr>
              <a:t>If the model skips an answer,</a:t>
            </a:r>
            <a:endParaRPr lang="en-US" sz="3600" dirty="0"/>
          </a:p>
          <a:p>
            <a:pPr indent="0" marL="0">
              <a:lnSpc>
                <a:spcPts val="5000"/>
              </a:lnSpc>
              <a:buNone/>
            </a:pPr>
            <a:r>
              <a:rPr lang="en-US" sz="3600" b="1" dirty="0">
                <a:solidFill>
                  <a:srgbClr val="FFFFFF"/>
                </a:solidFill>
                <a:latin typeface="Cambria" pitchFamily="34" charset="0"/>
                <a:ea typeface="Cambria" pitchFamily="34" charset="-122"/>
                <a:cs typeface="Cambria" pitchFamily="34" charset="-120"/>
              </a:rPr>
              <a:t>the whole run stops.</a:t>
            </a:r>
            <a:endParaRPr lang="en-US" sz="3600" dirty="0"/>
          </a:p>
        </p:txBody>
      </p:sp>
      <p:sp>
        <p:nvSpPr>
          <p:cNvPr id="5" name="Text 3"/>
          <p:cNvSpPr txBox="1"/>
          <p:nvPr/>
        </p:nvSpPr>
        <p:spPr>
          <a:xfrm>
            <a:off x="640080" y="3520440"/>
            <a:ext cx="8595360" cy="1005840"/>
          </a:xfrm>
          <a:prstGeom prst="rect">
            <a:avLst/>
          </a:prstGeom>
          <a:noFill/>
          <a:ln/>
        </p:spPr>
        <p:txBody>
          <a:bodyPr wrap="square" lIns="0" tIns="0" rIns="0" bIns="0" rtlCol="0" anchor="ctr"/>
          <a:lstStyle/>
          <a:p>
            <a:pPr indent="0" marL="0">
              <a:lnSpc>
                <a:spcPts val="2400"/>
              </a:lnSpc>
              <a:buNone/>
            </a:pPr>
            <a:r>
              <a:rPr lang="en-US" sz="1600" dirty="0">
                <a:solidFill>
                  <a:srgbClr val="A8C6CB"/>
                </a:solidFill>
                <a:latin typeface="Calibri" pitchFamily="34" charset="0"/>
                <a:ea typeface="Calibri" pitchFamily="34" charset="-122"/>
                <a:cs typeface="Calibri" pitchFamily="34" charset="-120"/>
              </a:rPr>
              <a:t>A paper the model forgot to score and a paper it judged irrelevant look identical further down the line — both are simply absent. So the code refuses to guess: a missing answer is a loud failure, not a quiet gap.</a:t>
            </a:r>
            <a:endParaRPr lang="en-US" sz="1600" dirty="0"/>
          </a:p>
        </p:txBody>
      </p:sp>
      <p:sp>
        <p:nvSpPr>
          <p:cNvPr id="6" name="Text 4"/>
          <p:cNvSpPr txBox="1"/>
          <p:nvPr/>
        </p:nvSpPr>
        <p:spPr>
          <a:xfrm>
            <a:off x="640080" y="4800600"/>
            <a:ext cx="8595360" cy="731520"/>
          </a:xfrm>
          <a:prstGeom prst="rect">
            <a:avLst/>
          </a:prstGeom>
          <a:noFill/>
          <a:ln/>
        </p:spPr>
        <p:txBody>
          <a:bodyPr wrap="square" lIns="0" tIns="0" rIns="0" bIns="0" rtlCol="0" anchor="ctr"/>
          <a:lstStyle/>
          <a:p>
            <a:pPr indent="0" marL="0">
              <a:lnSpc>
                <a:spcPts val="2200"/>
              </a:lnSpc>
              <a:buNone/>
            </a:pPr>
            <a:r>
              <a:rPr lang="en-US" sz="1600" b="1" dirty="0">
                <a:solidFill>
                  <a:srgbClr val="02C39A"/>
                </a:solidFill>
                <a:latin typeface="Calibri" pitchFamily="34" charset="0"/>
                <a:ea typeface="Calibri" pitchFamily="34" charset="-122"/>
                <a:cs typeface="Calibri" pitchFamily="34" charset="-120"/>
              </a:rPr>
              <a:t>Cheap to write. It's the difference between a system that degrades silently and one that tells you.</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WHAT IT COSTS</a:t>
            </a:r>
            <a:endParaRPr lang="en-US" sz="1200" dirty="0"/>
          </a:p>
        </p:txBody>
      </p:sp>
      <p:sp>
        <p:nvSpPr>
          <p:cNvPr id="3" name="Text 1"/>
          <p:cNvSpPr txBox="1"/>
          <p:nvPr/>
        </p:nvSpPr>
        <p:spPr>
          <a:xfrm>
            <a:off x="640080" y="786384"/>
            <a:ext cx="10911535" cy="868680"/>
          </a:xfrm>
          <a:prstGeom prst="rect">
            <a:avLst/>
          </a:prstGeom>
          <a:noFill/>
          <a:ln/>
        </p:spPr>
        <p:txBody>
          <a:bodyPr wrap="square" lIns="0" tIns="0" rIns="0" bIns="0" rtlCol="0" anchor="t"/>
          <a:lstStyle/>
          <a:p>
            <a:pPr indent="0" marL="0">
              <a:buNone/>
            </a:pPr>
            <a:r>
              <a:rPr lang="en-US" sz="3200" b="1" dirty="0">
                <a:solidFill>
                  <a:srgbClr val="06313A"/>
                </a:solidFill>
                <a:latin typeface="Cambria" pitchFamily="34" charset="0"/>
                <a:ea typeface="Cambria" pitchFamily="34" charset="-122"/>
                <a:cs typeface="Cambria" pitchFamily="34" charset="-120"/>
              </a:rPr>
              <a:t>Less than a sandwich</a:t>
            </a:r>
            <a:endParaRPr lang="en-US" sz="3200" dirty="0"/>
          </a:p>
        </p:txBody>
      </p:sp>
      <p:sp>
        <p:nvSpPr>
          <p:cNvPr id="4" name="Shape 2"/>
          <p:cNvSpPr/>
          <p:nvPr/>
        </p:nvSpPr>
        <p:spPr>
          <a:xfrm>
            <a:off x="640080" y="1746504"/>
            <a:ext cx="2522144" cy="1783080"/>
          </a:xfrm>
          <a:prstGeom prst="roundRect">
            <a:avLst>
              <a:gd name="adj" fmla="val 5128"/>
            </a:avLst>
          </a:prstGeom>
          <a:solidFill>
            <a:srgbClr val="EAF3F4"/>
          </a:solidFill>
          <a:ln w="12700">
            <a:solidFill>
              <a:srgbClr val="EAF3F4"/>
            </a:solidFill>
            <a:prstDash val="solid"/>
          </a:ln>
        </p:spPr>
      </p:sp>
      <p:sp>
        <p:nvSpPr>
          <p:cNvPr id="5" name="Text 3"/>
          <p:cNvSpPr txBox="1"/>
          <p:nvPr/>
        </p:nvSpPr>
        <p:spPr>
          <a:xfrm>
            <a:off x="822960" y="1975104"/>
            <a:ext cx="2156384" cy="548640"/>
          </a:xfrm>
          <a:prstGeom prst="rect">
            <a:avLst/>
          </a:prstGeom>
          <a:noFill/>
          <a:ln/>
        </p:spPr>
        <p:txBody>
          <a:bodyPr wrap="square" lIns="0" tIns="0" rIns="0" bIns="0" rtlCol="0" anchor="ctr"/>
          <a:lstStyle/>
          <a:p>
            <a:pPr algn="ctr" indent="0" marL="0">
              <a:buNone/>
            </a:pPr>
            <a:r>
              <a:rPr lang="en-US" sz="3000" b="1" dirty="0">
                <a:solidFill>
                  <a:srgbClr val="028090"/>
                </a:solidFill>
                <a:latin typeface="Cambria" pitchFamily="34" charset="0"/>
                <a:ea typeface="Cambria" pitchFamily="34" charset="-122"/>
                <a:cs typeface="Cambria" pitchFamily="34" charset="-120"/>
              </a:rPr>
              <a:t>$2.34</a:t>
            </a:r>
            <a:endParaRPr lang="en-US" sz="3000" dirty="0"/>
          </a:p>
        </p:txBody>
      </p:sp>
      <p:sp>
        <p:nvSpPr>
          <p:cNvPr id="6" name="Text 4"/>
          <p:cNvSpPr txBox="1"/>
          <p:nvPr/>
        </p:nvSpPr>
        <p:spPr>
          <a:xfrm>
            <a:off x="822960" y="2551176"/>
            <a:ext cx="2156384" cy="274320"/>
          </a:xfrm>
          <a:prstGeom prst="rect">
            <a:avLst/>
          </a:prstGeom>
          <a:noFill/>
          <a:ln/>
        </p:spPr>
        <p:txBody>
          <a:bodyPr wrap="square" lIns="0" tIns="0" rIns="0" bIns="0" rtlCol="0" anchor="ctr"/>
          <a:lstStyle/>
          <a:p>
            <a:pPr algn="ctr" indent="0" marL="0">
              <a:buNone/>
            </a:pPr>
            <a:r>
              <a:rPr lang="en-US" sz="1350" b="1" dirty="0">
                <a:solidFill>
                  <a:srgbClr val="06313A"/>
                </a:solidFill>
                <a:latin typeface="Calibri" pitchFamily="34" charset="0"/>
                <a:ea typeface="Calibri" pitchFamily="34" charset="-122"/>
                <a:cs typeface="Calibri" pitchFamily="34" charset="-120"/>
              </a:rPr>
              <a:t>a month, all in</a:t>
            </a:r>
            <a:endParaRPr lang="en-US" sz="1350" dirty="0"/>
          </a:p>
        </p:txBody>
      </p:sp>
      <p:sp>
        <p:nvSpPr>
          <p:cNvPr id="7" name="Text 5"/>
          <p:cNvSpPr txBox="1"/>
          <p:nvPr/>
        </p:nvSpPr>
        <p:spPr>
          <a:xfrm>
            <a:off x="822960" y="2843784"/>
            <a:ext cx="2156384" cy="548640"/>
          </a:xfrm>
          <a:prstGeom prst="rect">
            <a:avLst/>
          </a:prstGeom>
          <a:noFill/>
          <a:ln/>
        </p:spPr>
        <p:txBody>
          <a:bodyPr wrap="square" lIns="0" tIns="0" rIns="0" bIns="0" rtlCol="0" anchor="ctr"/>
          <a:lstStyle/>
          <a:p>
            <a:pPr algn="ctr" indent="0" marL="0">
              <a:lnSpc>
                <a:spcPts val="1500"/>
              </a:lnSpc>
              <a:buNone/>
            </a:pPr>
            <a:r>
              <a:rPr lang="en-US" sz="1150" dirty="0">
                <a:solidFill>
                  <a:srgbClr val="70898F"/>
                </a:solidFill>
                <a:latin typeface="Calibri" pitchFamily="34" charset="0"/>
                <a:ea typeface="Calibri" pitchFamily="34" charset="-122"/>
                <a:cs typeface="Calibri" pitchFamily="34" charset="-120"/>
              </a:rPr>
              <a:t>at full price, before any optimization</a:t>
            </a:r>
            <a:endParaRPr lang="en-US" sz="1150" dirty="0"/>
          </a:p>
        </p:txBody>
      </p:sp>
      <p:sp>
        <p:nvSpPr>
          <p:cNvPr id="8" name="Shape 6"/>
          <p:cNvSpPr/>
          <p:nvPr/>
        </p:nvSpPr>
        <p:spPr>
          <a:xfrm>
            <a:off x="3436544" y="1746504"/>
            <a:ext cx="2522144" cy="1783080"/>
          </a:xfrm>
          <a:prstGeom prst="roundRect">
            <a:avLst>
              <a:gd name="adj" fmla="val 5128"/>
            </a:avLst>
          </a:prstGeom>
          <a:solidFill>
            <a:srgbClr val="EAF3F4"/>
          </a:solidFill>
          <a:ln w="12700">
            <a:solidFill>
              <a:srgbClr val="EAF3F4"/>
            </a:solidFill>
            <a:prstDash val="solid"/>
          </a:ln>
        </p:spPr>
      </p:sp>
      <p:sp>
        <p:nvSpPr>
          <p:cNvPr id="9" name="Text 7"/>
          <p:cNvSpPr txBox="1"/>
          <p:nvPr/>
        </p:nvSpPr>
        <p:spPr>
          <a:xfrm>
            <a:off x="3619424" y="1975104"/>
            <a:ext cx="2156384" cy="548640"/>
          </a:xfrm>
          <a:prstGeom prst="rect">
            <a:avLst/>
          </a:prstGeom>
          <a:noFill/>
          <a:ln/>
        </p:spPr>
        <p:txBody>
          <a:bodyPr wrap="square" lIns="0" tIns="0" rIns="0" bIns="0" rtlCol="0" anchor="ctr"/>
          <a:lstStyle/>
          <a:p>
            <a:pPr algn="ctr" indent="0" marL="0">
              <a:buNone/>
            </a:pPr>
            <a:r>
              <a:rPr lang="en-US" sz="3000" b="1" dirty="0">
                <a:solidFill>
                  <a:srgbClr val="028090"/>
                </a:solidFill>
                <a:latin typeface="Cambria" pitchFamily="34" charset="0"/>
                <a:ea typeface="Cambria" pitchFamily="34" charset="-122"/>
                <a:cs typeface="Cambria" pitchFamily="34" charset="-120"/>
              </a:rPr>
              <a:t>$0.0036</a:t>
            </a:r>
            <a:endParaRPr lang="en-US" sz="3000" dirty="0"/>
          </a:p>
        </p:txBody>
      </p:sp>
      <p:sp>
        <p:nvSpPr>
          <p:cNvPr id="10" name="Text 8"/>
          <p:cNvSpPr txBox="1"/>
          <p:nvPr/>
        </p:nvSpPr>
        <p:spPr>
          <a:xfrm>
            <a:off x="3619424" y="2551176"/>
            <a:ext cx="2156384" cy="274320"/>
          </a:xfrm>
          <a:prstGeom prst="rect">
            <a:avLst/>
          </a:prstGeom>
          <a:noFill/>
          <a:ln/>
        </p:spPr>
        <p:txBody>
          <a:bodyPr wrap="square" lIns="0" tIns="0" rIns="0" bIns="0" rtlCol="0" anchor="ctr"/>
          <a:lstStyle/>
          <a:p>
            <a:pPr algn="ctr" indent="0" marL="0">
              <a:buNone/>
            </a:pPr>
            <a:r>
              <a:rPr lang="en-US" sz="1350" b="1" dirty="0">
                <a:solidFill>
                  <a:srgbClr val="06313A"/>
                </a:solidFill>
                <a:latin typeface="Calibri" pitchFamily="34" charset="0"/>
                <a:ea typeface="Calibri" pitchFamily="34" charset="-122"/>
                <a:cs typeface="Calibri" pitchFamily="34" charset="-120"/>
              </a:rPr>
              <a:t>per paper kept</a:t>
            </a:r>
            <a:endParaRPr lang="en-US" sz="1350" dirty="0"/>
          </a:p>
        </p:txBody>
      </p:sp>
      <p:sp>
        <p:nvSpPr>
          <p:cNvPr id="11" name="Text 9"/>
          <p:cNvSpPr txBox="1"/>
          <p:nvPr/>
        </p:nvSpPr>
        <p:spPr>
          <a:xfrm>
            <a:off x="3619424" y="2843784"/>
            <a:ext cx="2156384" cy="548640"/>
          </a:xfrm>
          <a:prstGeom prst="rect">
            <a:avLst/>
          </a:prstGeom>
          <a:noFill/>
          <a:ln/>
        </p:spPr>
        <p:txBody>
          <a:bodyPr wrap="square" lIns="0" tIns="0" rIns="0" bIns="0" rtlCol="0" anchor="ctr"/>
          <a:lstStyle/>
          <a:p>
            <a:pPr algn="ctr" indent="0" marL="0">
              <a:lnSpc>
                <a:spcPts val="1500"/>
              </a:lnSpc>
              <a:buNone/>
            </a:pPr>
            <a:r>
              <a:rPr lang="en-US" sz="1150" dirty="0">
                <a:solidFill>
                  <a:srgbClr val="70898F"/>
                </a:solidFill>
                <a:latin typeface="Calibri" pitchFamily="34" charset="0"/>
                <a:ea typeface="Calibri" pitchFamily="34" charset="-122"/>
                <a:cs typeface="Calibri" pitchFamily="34" charset="-120"/>
              </a:rPr>
              <a:t>the filtering step, per survivor</a:t>
            </a:r>
            <a:endParaRPr lang="en-US" sz="1150" dirty="0"/>
          </a:p>
        </p:txBody>
      </p:sp>
      <p:sp>
        <p:nvSpPr>
          <p:cNvPr id="12" name="Shape 10"/>
          <p:cNvSpPr/>
          <p:nvPr/>
        </p:nvSpPr>
        <p:spPr>
          <a:xfrm>
            <a:off x="6233008" y="1746504"/>
            <a:ext cx="2522144" cy="1783080"/>
          </a:xfrm>
          <a:prstGeom prst="roundRect">
            <a:avLst>
              <a:gd name="adj" fmla="val 5128"/>
            </a:avLst>
          </a:prstGeom>
          <a:solidFill>
            <a:srgbClr val="EAF3F4"/>
          </a:solidFill>
          <a:ln w="12700">
            <a:solidFill>
              <a:srgbClr val="EAF3F4"/>
            </a:solidFill>
            <a:prstDash val="solid"/>
          </a:ln>
        </p:spPr>
      </p:sp>
      <p:sp>
        <p:nvSpPr>
          <p:cNvPr id="13" name="Text 11"/>
          <p:cNvSpPr txBox="1"/>
          <p:nvPr/>
        </p:nvSpPr>
        <p:spPr>
          <a:xfrm>
            <a:off x="6415888" y="1975104"/>
            <a:ext cx="2156384" cy="548640"/>
          </a:xfrm>
          <a:prstGeom prst="rect">
            <a:avLst/>
          </a:prstGeom>
          <a:noFill/>
          <a:ln/>
        </p:spPr>
        <p:txBody>
          <a:bodyPr wrap="square" lIns="0" tIns="0" rIns="0" bIns="0" rtlCol="0" anchor="ctr"/>
          <a:lstStyle/>
          <a:p>
            <a:pPr algn="ctr" indent="0" marL="0">
              <a:buNone/>
            </a:pPr>
            <a:r>
              <a:rPr lang="en-US" sz="3000" b="1" dirty="0">
                <a:solidFill>
                  <a:srgbClr val="028090"/>
                </a:solidFill>
                <a:latin typeface="Cambria" pitchFamily="34" charset="0"/>
                <a:ea typeface="Cambria" pitchFamily="34" charset="-122"/>
                <a:cs typeface="Cambria" pitchFamily="34" charset="-120"/>
              </a:rPr>
              <a:t>~5 min</a:t>
            </a:r>
            <a:endParaRPr lang="en-US" sz="3000" dirty="0"/>
          </a:p>
        </p:txBody>
      </p:sp>
      <p:sp>
        <p:nvSpPr>
          <p:cNvPr id="14" name="Text 12"/>
          <p:cNvSpPr txBox="1"/>
          <p:nvPr/>
        </p:nvSpPr>
        <p:spPr>
          <a:xfrm>
            <a:off x="6415888" y="2551176"/>
            <a:ext cx="2156384" cy="274320"/>
          </a:xfrm>
          <a:prstGeom prst="rect">
            <a:avLst/>
          </a:prstGeom>
          <a:noFill/>
          <a:ln/>
        </p:spPr>
        <p:txBody>
          <a:bodyPr wrap="square" lIns="0" tIns="0" rIns="0" bIns="0" rtlCol="0" anchor="ctr"/>
          <a:lstStyle/>
          <a:p>
            <a:pPr algn="ctr" indent="0" marL="0">
              <a:buNone/>
            </a:pPr>
            <a:r>
              <a:rPr lang="en-US" sz="1350" b="1" dirty="0">
                <a:solidFill>
                  <a:srgbClr val="06313A"/>
                </a:solidFill>
                <a:latin typeface="Calibri" pitchFamily="34" charset="0"/>
                <a:ea typeface="Calibri" pitchFamily="34" charset="-122"/>
                <a:cs typeface="Calibri" pitchFamily="34" charset="-120"/>
              </a:rPr>
              <a:t>of compute</a:t>
            </a:r>
            <a:endParaRPr lang="en-US" sz="1350" dirty="0"/>
          </a:p>
        </p:txBody>
      </p:sp>
      <p:sp>
        <p:nvSpPr>
          <p:cNvPr id="15" name="Text 13"/>
          <p:cNvSpPr txBox="1"/>
          <p:nvPr/>
        </p:nvSpPr>
        <p:spPr>
          <a:xfrm>
            <a:off x="6415888" y="2843784"/>
            <a:ext cx="2156384" cy="548640"/>
          </a:xfrm>
          <a:prstGeom prst="rect">
            <a:avLst/>
          </a:prstGeom>
          <a:noFill/>
          <a:ln/>
        </p:spPr>
        <p:txBody>
          <a:bodyPr wrap="square" lIns="0" tIns="0" rIns="0" bIns="0" rtlCol="0" anchor="ctr"/>
          <a:lstStyle/>
          <a:p>
            <a:pPr algn="ctr" indent="0" marL="0">
              <a:lnSpc>
                <a:spcPts val="1500"/>
              </a:lnSpc>
              <a:buNone/>
            </a:pPr>
            <a:r>
              <a:rPr lang="en-US" sz="1150" dirty="0">
                <a:solidFill>
                  <a:srgbClr val="70898F"/>
                </a:solidFill>
                <a:latin typeface="Calibri" pitchFamily="34" charset="0"/>
                <a:ea typeface="Calibri" pitchFamily="34" charset="-122"/>
                <a:cs typeface="Calibri" pitchFamily="34" charset="-120"/>
              </a:rPr>
              <a:t>the whole month, start to finish</a:t>
            </a:r>
            <a:endParaRPr lang="en-US" sz="1150" dirty="0"/>
          </a:p>
        </p:txBody>
      </p:sp>
      <p:sp>
        <p:nvSpPr>
          <p:cNvPr id="16" name="Shape 14"/>
          <p:cNvSpPr/>
          <p:nvPr/>
        </p:nvSpPr>
        <p:spPr>
          <a:xfrm>
            <a:off x="9029471" y="1746504"/>
            <a:ext cx="2522144" cy="1783080"/>
          </a:xfrm>
          <a:prstGeom prst="roundRect">
            <a:avLst>
              <a:gd name="adj" fmla="val 5128"/>
            </a:avLst>
          </a:prstGeom>
          <a:solidFill>
            <a:srgbClr val="EAF3F4"/>
          </a:solidFill>
          <a:ln w="12700">
            <a:solidFill>
              <a:srgbClr val="EAF3F4"/>
            </a:solidFill>
            <a:prstDash val="solid"/>
          </a:ln>
        </p:spPr>
      </p:sp>
      <p:sp>
        <p:nvSpPr>
          <p:cNvPr id="17" name="Text 15"/>
          <p:cNvSpPr txBox="1"/>
          <p:nvPr/>
        </p:nvSpPr>
        <p:spPr>
          <a:xfrm>
            <a:off x="9212351" y="1975104"/>
            <a:ext cx="2156384" cy="548640"/>
          </a:xfrm>
          <a:prstGeom prst="rect">
            <a:avLst/>
          </a:prstGeom>
          <a:noFill/>
          <a:ln/>
        </p:spPr>
        <p:txBody>
          <a:bodyPr wrap="square" lIns="0" tIns="0" rIns="0" bIns="0" rtlCol="0" anchor="ctr"/>
          <a:lstStyle/>
          <a:p>
            <a:pPr algn="ctr" indent="0" marL="0">
              <a:buNone/>
            </a:pPr>
            <a:r>
              <a:rPr lang="en-US" sz="3000" b="1" dirty="0">
                <a:solidFill>
                  <a:srgbClr val="028090"/>
                </a:solidFill>
                <a:latin typeface="Cambria" pitchFamily="34" charset="0"/>
                <a:ea typeface="Cambria" pitchFamily="34" charset="-122"/>
                <a:cs typeface="Cambria" pitchFamily="34" charset="-120"/>
              </a:rPr>
              <a:t>0</a:t>
            </a:r>
            <a:endParaRPr lang="en-US" sz="3000" dirty="0"/>
          </a:p>
        </p:txBody>
      </p:sp>
      <p:sp>
        <p:nvSpPr>
          <p:cNvPr id="18" name="Text 16"/>
          <p:cNvSpPr txBox="1"/>
          <p:nvPr/>
        </p:nvSpPr>
        <p:spPr>
          <a:xfrm>
            <a:off x="9212351" y="2551176"/>
            <a:ext cx="2156384" cy="274320"/>
          </a:xfrm>
          <a:prstGeom prst="rect">
            <a:avLst/>
          </a:prstGeom>
          <a:noFill/>
          <a:ln/>
        </p:spPr>
        <p:txBody>
          <a:bodyPr wrap="square" lIns="0" tIns="0" rIns="0" bIns="0" rtlCol="0" anchor="ctr"/>
          <a:lstStyle/>
          <a:p>
            <a:pPr algn="ctr" indent="0" marL="0">
              <a:buNone/>
            </a:pPr>
            <a:r>
              <a:rPr lang="en-US" sz="1350" b="1" dirty="0">
                <a:solidFill>
                  <a:srgbClr val="06313A"/>
                </a:solidFill>
                <a:latin typeface="Calibri" pitchFamily="34" charset="0"/>
                <a:ea typeface="Calibri" pitchFamily="34" charset="-122"/>
                <a:cs typeface="Calibri" pitchFamily="34" charset="-120"/>
              </a:rPr>
              <a:t>human steps</a:t>
            </a:r>
            <a:endParaRPr lang="en-US" sz="1350" dirty="0"/>
          </a:p>
        </p:txBody>
      </p:sp>
      <p:sp>
        <p:nvSpPr>
          <p:cNvPr id="19" name="Text 17"/>
          <p:cNvSpPr txBox="1"/>
          <p:nvPr/>
        </p:nvSpPr>
        <p:spPr>
          <a:xfrm>
            <a:off x="9212351" y="2843784"/>
            <a:ext cx="2156384" cy="548640"/>
          </a:xfrm>
          <a:prstGeom prst="rect">
            <a:avLst/>
          </a:prstGeom>
          <a:noFill/>
          <a:ln/>
        </p:spPr>
        <p:txBody>
          <a:bodyPr wrap="square" lIns="0" tIns="0" rIns="0" bIns="0" rtlCol="0" anchor="ctr"/>
          <a:lstStyle/>
          <a:p>
            <a:pPr algn="ctr" indent="0" marL="0">
              <a:lnSpc>
                <a:spcPts val="1500"/>
              </a:lnSpc>
              <a:buNone/>
            </a:pPr>
            <a:r>
              <a:rPr lang="en-US" sz="1150" dirty="0">
                <a:solidFill>
                  <a:srgbClr val="70898F"/>
                </a:solidFill>
                <a:latin typeface="Calibri" pitchFamily="34" charset="0"/>
                <a:ea typeface="Calibri" pitchFamily="34" charset="-122"/>
                <a:cs typeface="Calibri" pitchFamily="34" charset="-120"/>
              </a:rPr>
              <a:t>it publishes itself on the 2nd</a:t>
            </a:r>
            <a:endParaRPr lang="en-US" sz="1150" dirty="0"/>
          </a:p>
        </p:txBody>
      </p:sp>
      <p:sp>
        <p:nvSpPr>
          <p:cNvPr id="20" name="Shape 18"/>
          <p:cNvSpPr/>
          <p:nvPr/>
        </p:nvSpPr>
        <p:spPr>
          <a:xfrm>
            <a:off x="640080" y="3849624"/>
            <a:ext cx="10911535" cy="1463040"/>
          </a:xfrm>
          <a:prstGeom prst="roundRect">
            <a:avLst>
              <a:gd name="adj" fmla="val 6250"/>
            </a:avLst>
          </a:prstGeom>
          <a:solidFill>
            <a:srgbClr val="06313A"/>
          </a:solidFill>
          <a:ln w="12700">
            <a:solidFill>
              <a:srgbClr val="06313A"/>
            </a:solidFill>
            <a:prstDash val="solid"/>
          </a:ln>
        </p:spPr>
      </p:sp>
      <p:sp>
        <p:nvSpPr>
          <p:cNvPr id="21" name="Text 19"/>
          <p:cNvSpPr txBox="1"/>
          <p:nvPr/>
        </p:nvSpPr>
        <p:spPr>
          <a:xfrm>
            <a:off x="1051560" y="4032504"/>
            <a:ext cx="10088575" cy="274320"/>
          </a:xfrm>
          <a:prstGeom prst="rect">
            <a:avLst/>
          </a:prstGeom>
          <a:noFill/>
          <a:ln/>
        </p:spPr>
        <p:txBody>
          <a:bodyPr wrap="square" lIns="0" tIns="0" rIns="0" bIns="0" rtlCol="0" anchor="ctr"/>
          <a:lstStyle/>
          <a:p>
            <a:pPr indent="0" marL="0">
              <a:buNone/>
            </a:pPr>
            <a:r>
              <a:rPr lang="en-US" sz="1250" b="1" spc="150" kern="0" dirty="0">
                <a:solidFill>
                  <a:srgbClr val="02C39A"/>
                </a:solidFill>
                <a:latin typeface="Calibri" pitchFamily="34" charset="0"/>
                <a:ea typeface="Calibri" pitchFamily="34" charset="-122"/>
                <a:cs typeface="Calibri" pitchFamily="34" charset="-120"/>
              </a:rPr>
              <a:t>The mistake worth admitting</a:t>
            </a:r>
            <a:endParaRPr lang="en-US" sz="1250" dirty="0"/>
          </a:p>
        </p:txBody>
      </p:sp>
      <p:sp>
        <p:nvSpPr>
          <p:cNvPr id="22" name="Text 20"/>
          <p:cNvSpPr txBox="1"/>
          <p:nvPr/>
        </p:nvSpPr>
        <p:spPr>
          <a:xfrm>
            <a:off x="1051560" y="4352544"/>
            <a:ext cx="10088575" cy="914400"/>
          </a:xfrm>
          <a:prstGeom prst="rect">
            <a:avLst/>
          </a:prstGeom>
          <a:noFill/>
          <a:ln/>
        </p:spPr>
        <p:txBody>
          <a:bodyPr wrap="square" lIns="0" tIns="0" rIns="0" bIns="0" rtlCol="0" anchor="ctr"/>
          <a:lstStyle/>
          <a:p>
            <a:pPr indent="0" marL="0">
              <a:lnSpc>
                <a:spcPts val="2000"/>
              </a:lnSpc>
              <a:buNone/>
            </a:pPr>
            <a:r>
              <a:rPr lang="en-US" sz="1450" dirty="0">
                <a:solidFill>
                  <a:srgbClr val="FFFFFF"/>
                </a:solidFill>
                <a:latin typeface="Calibri" pitchFamily="34" charset="0"/>
                <a:ea typeface="Calibri" pitchFamily="34" charset="-122"/>
                <a:cs typeface="Calibri" pitchFamily="34" charset="-120"/>
              </a:rPr>
              <a:t>We built a whole switch to move the filtering onto a cheaper model. Then we measured: it would have saved 33 cents a month. There was no cost problem — so the real decision was always about quality, and we'd been treating it as a budget question.</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MODEL CHOICE</a:t>
            </a:r>
            <a:endParaRPr lang="en-US" sz="1200" dirty="0"/>
          </a:p>
        </p:txBody>
      </p:sp>
      <p:sp>
        <p:nvSpPr>
          <p:cNvPr id="3" name="Text 1"/>
          <p:cNvSpPr txBox="1"/>
          <p:nvPr/>
        </p:nvSpPr>
        <p:spPr>
          <a:xfrm>
            <a:off x="640080" y="786384"/>
            <a:ext cx="10911535" cy="868680"/>
          </a:xfrm>
          <a:prstGeom prst="rect">
            <a:avLst/>
          </a:prstGeom>
          <a:noFill/>
          <a:ln/>
        </p:spPr>
        <p:txBody>
          <a:bodyPr wrap="square" lIns="0" tIns="0" rIns="0" bIns="0" rtlCol="0" anchor="t"/>
          <a:lstStyle/>
          <a:p>
            <a:pPr indent="0" marL="0">
              <a:buNone/>
            </a:pPr>
            <a:r>
              <a:rPr lang="en-US" sz="3200" b="1" dirty="0">
                <a:solidFill>
                  <a:srgbClr val="06313A"/>
                </a:solidFill>
                <a:latin typeface="Cambria" pitchFamily="34" charset="0"/>
                <a:ea typeface="Cambria" pitchFamily="34" charset="-122"/>
                <a:cs typeface="Cambria" pitchFamily="34" charset="-120"/>
              </a:rPr>
              <a:t>Two different jobs, two different models</a:t>
            </a:r>
            <a:endParaRPr lang="en-US" sz="3200" dirty="0"/>
          </a:p>
        </p:txBody>
      </p:sp>
      <p:sp>
        <p:nvSpPr>
          <p:cNvPr id="4" name="Shape 2"/>
          <p:cNvSpPr/>
          <p:nvPr/>
        </p:nvSpPr>
        <p:spPr>
          <a:xfrm>
            <a:off x="640080" y="1746504"/>
            <a:ext cx="5227168" cy="3154680"/>
          </a:xfrm>
          <a:prstGeom prst="roundRect">
            <a:avLst>
              <a:gd name="adj" fmla="val 2899"/>
            </a:avLst>
          </a:prstGeom>
          <a:solidFill>
            <a:srgbClr val="EAF3F4"/>
          </a:solidFill>
          <a:ln w="12700">
            <a:solidFill>
              <a:srgbClr val="EAF3F4"/>
            </a:solidFill>
            <a:prstDash val="solid"/>
          </a:ln>
        </p:spPr>
      </p:sp>
      <p:sp>
        <p:nvSpPr>
          <p:cNvPr id="5" name="Text 3"/>
          <p:cNvSpPr txBox="1"/>
          <p:nvPr/>
        </p:nvSpPr>
        <p:spPr>
          <a:xfrm>
            <a:off x="1051560" y="2066544"/>
            <a:ext cx="4404208" cy="274320"/>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FILTERING</a:t>
            </a:r>
            <a:endParaRPr lang="en-US" sz="1200" dirty="0"/>
          </a:p>
        </p:txBody>
      </p:sp>
      <p:sp>
        <p:nvSpPr>
          <p:cNvPr id="6" name="Text 4"/>
          <p:cNvSpPr txBox="1"/>
          <p:nvPr/>
        </p:nvSpPr>
        <p:spPr>
          <a:xfrm>
            <a:off x="1051560" y="2432304"/>
            <a:ext cx="4404208" cy="777240"/>
          </a:xfrm>
          <a:prstGeom prst="rect">
            <a:avLst/>
          </a:prstGeom>
          <a:noFill/>
          <a:ln/>
        </p:spPr>
        <p:txBody>
          <a:bodyPr wrap="square" lIns="0" tIns="0" rIns="0" bIns="0" rtlCol="0" anchor="ctr"/>
          <a:lstStyle/>
          <a:p>
            <a:pPr indent="0" marL="0">
              <a:buNone/>
            </a:pPr>
            <a:r>
              <a:rPr lang="en-US" sz="2400" b="1" dirty="0">
                <a:solidFill>
                  <a:srgbClr val="06313A"/>
                </a:solidFill>
                <a:latin typeface="Cambria" pitchFamily="34" charset="0"/>
                <a:ea typeface="Cambria" pitchFamily="34" charset="-122"/>
                <a:cs typeface="Cambria" pitchFamily="34" charset="-120"/>
              </a:rPr>
              <a:t>A small, fast model</a:t>
            </a:r>
            <a:endParaRPr lang="en-US" sz="2400" dirty="0"/>
          </a:p>
        </p:txBody>
      </p:sp>
      <p:sp>
        <p:nvSpPr>
          <p:cNvPr id="7" name="Text 5"/>
          <p:cNvSpPr txBox="1"/>
          <p:nvPr/>
        </p:nvSpPr>
        <p:spPr>
          <a:xfrm>
            <a:off x="1051560" y="3255264"/>
            <a:ext cx="4404208" cy="1097280"/>
          </a:xfrm>
          <a:prstGeom prst="rect">
            <a:avLst/>
          </a:prstGeom>
          <a:noFill/>
          <a:ln/>
        </p:spPr>
        <p:txBody>
          <a:bodyPr wrap="square" lIns="0" tIns="0" rIns="0" bIns="0" rtlCol="0" anchor="ctr"/>
          <a:lstStyle/>
          <a:p>
            <a:pPr indent="0" marL="0">
              <a:lnSpc>
                <a:spcPts val="2000"/>
              </a:lnSpc>
              <a:buNone/>
            </a:pPr>
            <a:r>
              <a:rPr lang="en-US" sz="1400" dirty="0">
                <a:solidFill>
                  <a:srgbClr val="33474D"/>
                </a:solidFill>
                <a:latin typeface="Calibri" pitchFamily="34" charset="0"/>
                <a:ea typeface="Calibri" pitchFamily="34" charset="-122"/>
                <a:cs typeface="Calibri" pitchFamily="34" charset="-120"/>
              </a:rPr>
              <a:t>1,000+ judgments a month. The task is narrow: read a rubric, give a number. Volume matters more than eloquence.</a:t>
            </a:r>
            <a:endParaRPr lang="en-US" sz="1400" dirty="0"/>
          </a:p>
        </p:txBody>
      </p:sp>
      <p:sp>
        <p:nvSpPr>
          <p:cNvPr id="8" name="Text 6"/>
          <p:cNvSpPr txBox="1"/>
          <p:nvPr/>
        </p:nvSpPr>
        <p:spPr>
          <a:xfrm>
            <a:off x="1051560" y="4398264"/>
            <a:ext cx="4404208" cy="320040"/>
          </a:xfrm>
          <a:prstGeom prst="rect">
            <a:avLst/>
          </a:prstGeom>
          <a:noFill/>
          <a:ln/>
        </p:spPr>
        <p:txBody>
          <a:bodyPr wrap="square" lIns="0" tIns="0" rIns="0" bIns="0" rtlCol="0" anchor="ctr"/>
          <a:lstStyle/>
          <a:p>
            <a:pPr indent="0" marL="0">
              <a:buNone/>
            </a:pPr>
            <a:r>
              <a:rPr lang="en-US" sz="1200" i="1" dirty="0">
                <a:solidFill>
                  <a:srgbClr val="70898F"/>
                </a:solidFill>
                <a:latin typeface="Calibri" pitchFamily="34" charset="0"/>
                <a:ea typeface="Calibri" pitchFamily="34" charset="-122"/>
                <a:cs typeface="Calibri" pitchFamily="34" charset="-120"/>
              </a:rPr>
              <a:t>Bounded judgment · high volume</a:t>
            </a:r>
            <a:endParaRPr lang="en-US" sz="1200" dirty="0"/>
          </a:p>
        </p:txBody>
      </p:sp>
      <p:sp>
        <p:nvSpPr>
          <p:cNvPr id="9" name="Shape 7"/>
          <p:cNvSpPr/>
          <p:nvPr/>
        </p:nvSpPr>
        <p:spPr>
          <a:xfrm>
            <a:off x="6324448" y="1746504"/>
            <a:ext cx="5227168" cy="3154680"/>
          </a:xfrm>
          <a:prstGeom prst="roundRect">
            <a:avLst>
              <a:gd name="adj" fmla="val 2899"/>
            </a:avLst>
          </a:prstGeom>
          <a:solidFill>
            <a:srgbClr val="028090"/>
          </a:solidFill>
          <a:ln w="12700">
            <a:solidFill>
              <a:srgbClr val="028090"/>
            </a:solidFill>
            <a:prstDash val="solid"/>
          </a:ln>
        </p:spPr>
      </p:sp>
      <p:sp>
        <p:nvSpPr>
          <p:cNvPr id="10" name="Text 8"/>
          <p:cNvSpPr txBox="1"/>
          <p:nvPr/>
        </p:nvSpPr>
        <p:spPr>
          <a:xfrm>
            <a:off x="6735928" y="2066544"/>
            <a:ext cx="4404208" cy="274320"/>
          </a:xfrm>
          <a:prstGeom prst="rect">
            <a:avLst/>
          </a:prstGeom>
          <a:noFill/>
          <a:ln/>
        </p:spPr>
        <p:txBody>
          <a:bodyPr wrap="square" lIns="0" tIns="0" rIns="0" bIns="0" rtlCol="0" anchor="ctr"/>
          <a:lstStyle/>
          <a:p>
            <a:pPr indent="0" marL="0">
              <a:buNone/>
            </a:pPr>
            <a:r>
              <a:rPr lang="en-US" sz="1200" b="1" spc="200" kern="0" dirty="0">
                <a:solidFill>
                  <a:srgbClr val="9EE5D4"/>
                </a:solidFill>
                <a:latin typeface="Calibri" pitchFamily="34" charset="0"/>
                <a:ea typeface="Calibri" pitchFamily="34" charset="-122"/>
                <a:cs typeface="Calibri" pitchFamily="34" charset="-120"/>
              </a:rPr>
              <a:t>WRITING</a:t>
            </a:r>
            <a:endParaRPr lang="en-US" sz="1200" dirty="0"/>
          </a:p>
        </p:txBody>
      </p:sp>
      <p:sp>
        <p:nvSpPr>
          <p:cNvPr id="11" name="Text 9"/>
          <p:cNvSpPr txBox="1"/>
          <p:nvPr/>
        </p:nvSpPr>
        <p:spPr>
          <a:xfrm>
            <a:off x="6735928" y="2432304"/>
            <a:ext cx="4404208" cy="7772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The strongest model available</a:t>
            </a:r>
            <a:endParaRPr lang="en-US" sz="2400" dirty="0"/>
          </a:p>
        </p:txBody>
      </p:sp>
      <p:sp>
        <p:nvSpPr>
          <p:cNvPr id="12" name="Text 10"/>
          <p:cNvSpPr txBox="1"/>
          <p:nvPr/>
        </p:nvSpPr>
        <p:spPr>
          <a:xfrm>
            <a:off x="6735928" y="3255264"/>
            <a:ext cx="4404208" cy="1097280"/>
          </a:xfrm>
          <a:prstGeom prst="rect">
            <a:avLst/>
          </a:prstGeom>
          <a:noFill/>
          <a:ln/>
        </p:spPr>
        <p:txBody>
          <a:bodyPr wrap="square" lIns="0" tIns="0" rIns="0" bIns="0" rtlCol="0" anchor="ctr"/>
          <a:lstStyle/>
          <a:p>
            <a:pPr indent="0" marL="0">
              <a:lnSpc>
                <a:spcPts val="2000"/>
              </a:lnSpc>
              <a:buNone/>
            </a:pPr>
            <a:r>
              <a:rPr lang="en-US" sz="1400" dirty="0">
                <a:solidFill>
                  <a:srgbClr val="E2F6F2"/>
                </a:solidFill>
                <a:latin typeface="Calibri" pitchFamily="34" charset="0"/>
                <a:ea typeface="Calibri" pitchFamily="34" charset="-122"/>
                <a:cs typeface="Calibri" pitchFamily="34" charset="-120"/>
              </a:rPr>
              <a:t>About 100 summaries a month, read by a domain expert who will spot a wrong or invented claim instantly. This part is the product.</a:t>
            </a:r>
            <a:endParaRPr lang="en-US" sz="1400" dirty="0"/>
          </a:p>
        </p:txBody>
      </p:sp>
      <p:sp>
        <p:nvSpPr>
          <p:cNvPr id="13" name="Text 11"/>
          <p:cNvSpPr txBox="1"/>
          <p:nvPr/>
        </p:nvSpPr>
        <p:spPr>
          <a:xfrm>
            <a:off x="6735928" y="4398264"/>
            <a:ext cx="4404208" cy="320040"/>
          </a:xfrm>
          <a:prstGeom prst="rect">
            <a:avLst/>
          </a:prstGeom>
          <a:noFill/>
          <a:ln/>
        </p:spPr>
        <p:txBody>
          <a:bodyPr wrap="square" lIns="0" tIns="0" rIns="0" bIns="0" rtlCol="0" anchor="ctr"/>
          <a:lstStyle/>
          <a:p>
            <a:pPr indent="0" marL="0">
              <a:buNone/>
            </a:pPr>
            <a:r>
              <a:rPr lang="en-US" sz="1200" i="1" dirty="0">
                <a:solidFill>
                  <a:srgbClr val="9EE5D4"/>
                </a:solidFill>
                <a:latin typeface="Calibri" pitchFamily="34" charset="0"/>
                <a:ea typeface="Calibri" pitchFamily="34" charset="-122"/>
                <a:cs typeface="Calibri" pitchFamily="34" charset="-120"/>
              </a:rPr>
              <a:t>Open-ended judgment · low volume</a:t>
            </a:r>
            <a:endParaRPr lang="en-US" sz="1200" dirty="0"/>
          </a:p>
        </p:txBody>
      </p:sp>
      <p:sp>
        <p:nvSpPr>
          <p:cNvPr id="14" name="Text 12"/>
          <p:cNvSpPr txBox="1"/>
          <p:nvPr/>
        </p:nvSpPr>
        <p:spPr>
          <a:xfrm>
            <a:off x="640080" y="5038344"/>
            <a:ext cx="10911535" cy="411480"/>
          </a:xfrm>
          <a:prstGeom prst="rect">
            <a:avLst/>
          </a:prstGeom>
          <a:noFill/>
          <a:ln/>
        </p:spPr>
        <p:txBody>
          <a:bodyPr wrap="square" lIns="0" tIns="0" rIns="0" bIns="0" rtlCol="0" anchor="ctr"/>
          <a:lstStyle/>
          <a:p>
            <a:pPr algn="ctr" indent="0" marL="0">
              <a:buNone/>
            </a:pPr>
            <a:r>
              <a:rPr lang="en-US" sz="1500" dirty="0">
                <a:solidFill>
                  <a:srgbClr val="33474D"/>
                </a:solidFill>
                <a:latin typeface="Calibri" pitchFamily="34" charset="0"/>
                <a:ea typeface="Calibri" pitchFamily="34" charset="-122"/>
                <a:cs typeface="Calibri" pitchFamily="34" charset="-120"/>
              </a:rPr>
              <a:t>The choice is made per step, not once for the whole system — which also means swapping either one is a settings change, not a rewrite.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A RECENT CHANGE</a:t>
            </a:r>
            <a:endParaRPr lang="en-US" sz="1200" dirty="0"/>
          </a:p>
        </p:txBody>
      </p:sp>
      <p:sp>
        <p:nvSpPr>
          <p:cNvPr id="3" name="Text 1"/>
          <p:cNvSpPr txBox="1"/>
          <p:nvPr/>
        </p:nvSpPr>
        <p:spPr>
          <a:xfrm>
            <a:off x="640080" y="786384"/>
            <a:ext cx="10911535" cy="868680"/>
          </a:xfrm>
          <a:prstGeom prst="rect">
            <a:avLst/>
          </a:prstGeom>
          <a:noFill/>
          <a:ln/>
        </p:spPr>
        <p:txBody>
          <a:bodyPr wrap="square" lIns="0" tIns="0" rIns="0" bIns="0" rtlCol="0" anchor="t"/>
          <a:lstStyle/>
          <a:p>
            <a:pPr indent="0" marL="0">
              <a:buNone/>
            </a:pPr>
            <a:r>
              <a:rPr lang="en-US" sz="3200" b="1" dirty="0">
                <a:solidFill>
                  <a:srgbClr val="06313A"/>
                </a:solidFill>
                <a:latin typeface="Cambria" pitchFamily="34" charset="0"/>
                <a:ea typeface="Cambria" pitchFamily="34" charset="-122"/>
                <a:cs typeface="Cambria" pitchFamily="34" charset="-120"/>
              </a:rPr>
              <a:t>Handing the writing to an AI agent</a:t>
            </a:r>
            <a:endParaRPr lang="en-US" sz="3200" dirty="0"/>
          </a:p>
        </p:txBody>
      </p:sp>
      <p:sp>
        <p:nvSpPr>
          <p:cNvPr id="4" name="Text 2"/>
          <p:cNvSpPr txBox="1"/>
          <p:nvPr/>
        </p:nvSpPr>
        <p:spPr>
          <a:xfrm>
            <a:off x="640080" y="1746504"/>
            <a:ext cx="10911535" cy="640080"/>
          </a:xfrm>
          <a:prstGeom prst="rect">
            <a:avLst/>
          </a:prstGeom>
          <a:noFill/>
          <a:ln/>
        </p:spPr>
        <p:txBody>
          <a:bodyPr wrap="square" lIns="0" tIns="0" rIns="0" bIns="0" rtlCol="0" anchor="ctr"/>
          <a:lstStyle/>
          <a:p>
            <a:pPr indent="0" marL="0">
              <a:lnSpc>
                <a:spcPts val="2300"/>
              </a:lnSpc>
              <a:buNone/>
            </a:pPr>
            <a:r>
              <a:rPr lang="en-US" sz="1600" dirty="0">
                <a:solidFill>
                  <a:srgbClr val="33474D"/>
                </a:solidFill>
                <a:latin typeface="Calibri" pitchFamily="34" charset="0"/>
                <a:ea typeface="Calibri" pitchFamily="34" charset="-122"/>
                <a:cs typeface="Calibri" pitchFamily="34" charset="-120"/>
              </a:rPr>
              <a:t>The writing step no longer calls an API. The scheduled job prepares the work, then wakes up a Claude Code agent, which reads the prepared file, writes the month, and commits it.</a:t>
            </a:r>
            <a:endParaRPr lang="en-US" sz="1600" dirty="0"/>
          </a:p>
        </p:txBody>
      </p:sp>
      <p:sp>
        <p:nvSpPr>
          <p:cNvPr id="5" name="Shape 3"/>
          <p:cNvSpPr/>
          <p:nvPr/>
        </p:nvSpPr>
        <p:spPr>
          <a:xfrm>
            <a:off x="640080" y="2615184"/>
            <a:ext cx="3454298" cy="1874520"/>
          </a:xfrm>
          <a:prstGeom prst="roundRect">
            <a:avLst>
              <a:gd name="adj" fmla="val 4878"/>
            </a:avLst>
          </a:prstGeom>
          <a:solidFill>
            <a:srgbClr val="EAF3F4"/>
          </a:solidFill>
          <a:ln w="12700">
            <a:solidFill>
              <a:srgbClr val="EAF3F4"/>
            </a:solidFill>
            <a:prstDash val="solid"/>
          </a:ln>
        </p:spPr>
      </p:sp>
      <p:sp>
        <p:nvSpPr>
          <p:cNvPr id="6" name="Shape 4"/>
          <p:cNvSpPr/>
          <p:nvPr/>
        </p:nvSpPr>
        <p:spPr>
          <a:xfrm>
            <a:off x="960120" y="2889504"/>
            <a:ext cx="420624" cy="420624"/>
          </a:xfrm>
          <a:prstGeom prst="ellipse">
            <a:avLst/>
          </a:prstGeom>
          <a:solidFill>
            <a:srgbClr val="028090"/>
          </a:solidFill>
          <a:ln w="12700">
            <a:solidFill>
              <a:srgbClr val="028090"/>
            </a:solidFill>
            <a:prstDash val="solid"/>
          </a:ln>
        </p:spPr>
      </p:sp>
      <p:sp>
        <p:nvSpPr>
          <p:cNvPr id="7" name="Text 5"/>
          <p:cNvSpPr txBox="1"/>
          <p:nvPr/>
        </p:nvSpPr>
        <p:spPr>
          <a:xfrm>
            <a:off x="960120" y="28895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960120" y="3419856"/>
            <a:ext cx="2814218" cy="292608"/>
          </a:xfrm>
          <a:prstGeom prst="rect">
            <a:avLst/>
          </a:prstGeom>
          <a:noFill/>
          <a:ln/>
        </p:spPr>
        <p:txBody>
          <a:bodyPr wrap="square" lIns="0" tIns="0" rIns="0" bIns="0" rtlCol="0" anchor="ctr"/>
          <a:lstStyle/>
          <a:p>
            <a:pPr indent="0" marL="0">
              <a:buNone/>
            </a:pPr>
            <a:r>
              <a:rPr lang="en-US" sz="1500" b="1" dirty="0">
                <a:solidFill>
                  <a:srgbClr val="06313A"/>
                </a:solidFill>
                <a:latin typeface="Calibri" pitchFamily="34" charset="0"/>
                <a:ea typeface="Calibri" pitchFamily="34" charset="-122"/>
                <a:cs typeface="Calibri" pitchFamily="34" charset="-120"/>
              </a:rPr>
              <a:t>Code prepares</a:t>
            </a:r>
            <a:endParaRPr lang="en-US" sz="1500" dirty="0"/>
          </a:p>
        </p:txBody>
      </p:sp>
      <p:sp>
        <p:nvSpPr>
          <p:cNvPr id="9" name="Text 7"/>
          <p:cNvSpPr txBox="1"/>
          <p:nvPr/>
        </p:nvSpPr>
        <p:spPr>
          <a:xfrm>
            <a:off x="960120" y="3730752"/>
            <a:ext cx="2814218" cy="685800"/>
          </a:xfrm>
          <a:prstGeom prst="rect">
            <a:avLst/>
          </a:prstGeom>
          <a:noFill/>
          <a:ln/>
        </p:spPr>
        <p:txBody>
          <a:bodyPr wrap="square" lIns="0" tIns="0" rIns="0" bIns="0" rtlCol="0" anchor="ctr"/>
          <a:lstStyle/>
          <a:p>
            <a:pPr indent="0" marL="0">
              <a:lnSpc>
                <a:spcPts val="1600"/>
              </a:lnSpc>
              <a:buNone/>
            </a:pPr>
            <a:r>
              <a:rPr lang="en-US" sz="1200" dirty="0">
                <a:solidFill>
                  <a:srgbClr val="70898F"/>
                </a:solidFill>
                <a:latin typeface="Calibri" pitchFamily="34" charset="0"/>
                <a:ea typeface="Calibri" pitchFamily="34" charset="-122"/>
                <a:cs typeface="Calibri" pitchFamily="34" charset="-120"/>
              </a:rPr>
              <a:t>Exactly which papers, already deduped, capped and in reading order — plus what we said last month.</a:t>
            </a:r>
            <a:endParaRPr lang="en-US" sz="1200" dirty="0"/>
          </a:p>
        </p:txBody>
      </p:sp>
      <p:sp>
        <p:nvSpPr>
          <p:cNvPr id="10" name="Shape 8"/>
          <p:cNvSpPr/>
          <p:nvPr/>
        </p:nvSpPr>
        <p:spPr>
          <a:xfrm>
            <a:off x="4368698" y="2615184"/>
            <a:ext cx="3454298" cy="1874520"/>
          </a:xfrm>
          <a:prstGeom prst="roundRect">
            <a:avLst>
              <a:gd name="adj" fmla="val 4878"/>
            </a:avLst>
          </a:prstGeom>
          <a:solidFill>
            <a:srgbClr val="028090"/>
          </a:solidFill>
          <a:ln w="12700">
            <a:solidFill>
              <a:srgbClr val="028090"/>
            </a:solidFill>
            <a:prstDash val="solid"/>
          </a:ln>
        </p:spPr>
      </p:sp>
      <p:sp>
        <p:nvSpPr>
          <p:cNvPr id="11" name="Shape 9"/>
          <p:cNvSpPr/>
          <p:nvPr/>
        </p:nvSpPr>
        <p:spPr>
          <a:xfrm>
            <a:off x="4688738" y="2889504"/>
            <a:ext cx="420624" cy="420624"/>
          </a:xfrm>
          <a:prstGeom prst="ellipse">
            <a:avLst/>
          </a:prstGeom>
          <a:solidFill>
            <a:srgbClr val="02C39A"/>
          </a:solidFill>
          <a:ln w="12700">
            <a:solidFill>
              <a:srgbClr val="02C39A"/>
            </a:solidFill>
            <a:prstDash val="solid"/>
          </a:ln>
        </p:spPr>
      </p:sp>
      <p:sp>
        <p:nvSpPr>
          <p:cNvPr id="12" name="Text 10"/>
          <p:cNvSpPr txBox="1"/>
          <p:nvPr/>
        </p:nvSpPr>
        <p:spPr>
          <a:xfrm>
            <a:off x="4688738" y="2889504"/>
            <a:ext cx="420624" cy="420624"/>
          </a:xfrm>
          <a:prstGeom prst="rect">
            <a:avLst/>
          </a:prstGeom>
          <a:noFill/>
          <a:ln/>
        </p:spPr>
        <p:txBody>
          <a:bodyPr wrap="square" lIns="0" tIns="0" rIns="0" bIns="0" rtlCol="0" anchor="ctr"/>
          <a:lstStyle/>
          <a:p>
            <a:pPr algn="ctr" indent="0" marL="0">
              <a:buNone/>
            </a:pPr>
            <a:r>
              <a:rPr lang="en-US" sz="1400" b="1" dirty="0">
                <a:solidFill>
                  <a:srgbClr val="06313A"/>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4688738" y="3419856"/>
            <a:ext cx="2814218"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agent writes</a:t>
            </a:r>
            <a:endParaRPr lang="en-US" sz="1500" dirty="0"/>
          </a:p>
        </p:txBody>
      </p:sp>
      <p:sp>
        <p:nvSpPr>
          <p:cNvPr id="14" name="Text 12"/>
          <p:cNvSpPr txBox="1"/>
          <p:nvPr/>
        </p:nvSpPr>
        <p:spPr>
          <a:xfrm>
            <a:off x="4688738" y="3730752"/>
            <a:ext cx="2814218" cy="685800"/>
          </a:xfrm>
          <a:prstGeom prst="rect">
            <a:avLst/>
          </a:prstGeom>
          <a:noFill/>
          <a:ln/>
        </p:spPr>
        <p:txBody>
          <a:bodyPr wrap="square" lIns="0" tIns="0" rIns="0" bIns="0" rtlCol="0" anchor="ctr"/>
          <a:lstStyle/>
          <a:p>
            <a:pPr indent="0" marL="0">
              <a:lnSpc>
                <a:spcPts val="1600"/>
              </a:lnSpc>
              <a:buNone/>
            </a:pPr>
            <a:r>
              <a:rPr lang="en-US" sz="1200" dirty="0">
                <a:solidFill>
                  <a:srgbClr val="CDECE5"/>
                </a:solidFill>
                <a:latin typeface="Calibri" pitchFamily="34" charset="0"/>
                <a:ea typeface="Calibri" pitchFamily="34" charset="-122"/>
                <a:cs typeface="Calibri" pitchFamily="34" charset="-120"/>
              </a:rPr>
              <a:t>Summaries, per-topic narratives, the Top 5, the opening paragraph. Only the writing.</a:t>
            </a:r>
            <a:endParaRPr lang="en-US" sz="1200" dirty="0"/>
          </a:p>
        </p:txBody>
      </p:sp>
      <p:sp>
        <p:nvSpPr>
          <p:cNvPr id="15" name="Shape 13"/>
          <p:cNvSpPr/>
          <p:nvPr/>
        </p:nvSpPr>
        <p:spPr>
          <a:xfrm>
            <a:off x="8097317" y="2615184"/>
            <a:ext cx="3454298" cy="1874520"/>
          </a:xfrm>
          <a:prstGeom prst="roundRect">
            <a:avLst>
              <a:gd name="adj" fmla="val 4878"/>
            </a:avLst>
          </a:prstGeom>
          <a:solidFill>
            <a:srgbClr val="EAF3F4"/>
          </a:solidFill>
          <a:ln w="12700">
            <a:solidFill>
              <a:srgbClr val="EAF3F4"/>
            </a:solidFill>
            <a:prstDash val="solid"/>
          </a:ln>
        </p:spPr>
      </p:sp>
      <p:sp>
        <p:nvSpPr>
          <p:cNvPr id="16" name="Shape 14"/>
          <p:cNvSpPr/>
          <p:nvPr/>
        </p:nvSpPr>
        <p:spPr>
          <a:xfrm>
            <a:off x="8417357" y="2889504"/>
            <a:ext cx="420624" cy="420624"/>
          </a:xfrm>
          <a:prstGeom prst="ellipse">
            <a:avLst/>
          </a:prstGeom>
          <a:solidFill>
            <a:srgbClr val="028090"/>
          </a:solidFill>
          <a:ln w="12700">
            <a:solidFill>
              <a:srgbClr val="028090"/>
            </a:solidFill>
            <a:prstDash val="solid"/>
          </a:ln>
        </p:spPr>
      </p:sp>
      <p:sp>
        <p:nvSpPr>
          <p:cNvPr id="17" name="Text 15"/>
          <p:cNvSpPr txBox="1"/>
          <p:nvPr/>
        </p:nvSpPr>
        <p:spPr>
          <a:xfrm>
            <a:off x="8417357" y="28895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8417357" y="3419856"/>
            <a:ext cx="2814218" cy="292608"/>
          </a:xfrm>
          <a:prstGeom prst="rect">
            <a:avLst/>
          </a:prstGeom>
          <a:noFill/>
          <a:ln/>
        </p:spPr>
        <p:txBody>
          <a:bodyPr wrap="square" lIns="0" tIns="0" rIns="0" bIns="0" rtlCol="0" anchor="ctr"/>
          <a:lstStyle/>
          <a:p>
            <a:pPr indent="0" marL="0">
              <a:buNone/>
            </a:pPr>
            <a:r>
              <a:rPr lang="en-US" sz="1500" b="1" dirty="0">
                <a:solidFill>
                  <a:srgbClr val="06313A"/>
                </a:solidFill>
                <a:latin typeface="Calibri" pitchFamily="34" charset="0"/>
                <a:ea typeface="Calibri" pitchFamily="34" charset="-122"/>
                <a:cs typeface="Calibri" pitchFamily="34" charset="-120"/>
              </a:rPr>
              <a:t>Code checks</a:t>
            </a:r>
            <a:endParaRPr lang="en-US" sz="1500" dirty="0"/>
          </a:p>
        </p:txBody>
      </p:sp>
      <p:sp>
        <p:nvSpPr>
          <p:cNvPr id="19" name="Text 17"/>
          <p:cNvSpPr txBox="1"/>
          <p:nvPr/>
        </p:nvSpPr>
        <p:spPr>
          <a:xfrm>
            <a:off x="8417357" y="3730752"/>
            <a:ext cx="2814218" cy="685800"/>
          </a:xfrm>
          <a:prstGeom prst="rect">
            <a:avLst/>
          </a:prstGeom>
          <a:noFill/>
          <a:ln/>
        </p:spPr>
        <p:txBody>
          <a:bodyPr wrap="square" lIns="0" tIns="0" rIns="0" bIns="0" rtlCol="0" anchor="ctr"/>
          <a:lstStyle/>
          <a:p>
            <a:pPr indent="0" marL="0">
              <a:lnSpc>
                <a:spcPts val="1600"/>
              </a:lnSpc>
              <a:buNone/>
            </a:pPr>
            <a:r>
              <a:rPr lang="en-US" sz="1200" dirty="0">
                <a:solidFill>
                  <a:srgbClr val="70898F"/>
                </a:solidFill>
                <a:latin typeface="Calibri" pitchFamily="34" charset="0"/>
                <a:ea typeface="Calibri" pitchFamily="34" charset="-122"/>
                <a:cs typeface="Calibri" pitchFamily="34" charset="-120"/>
              </a:rPr>
              <a:t>The result is validated against the expected shape before it is allowed to become a published month.</a:t>
            </a:r>
            <a:endParaRPr lang="en-US" sz="1200" dirty="0"/>
          </a:p>
        </p:txBody>
      </p:sp>
      <p:sp>
        <p:nvSpPr>
          <p:cNvPr id="20" name="Text 18"/>
          <p:cNvSpPr txBox="1"/>
          <p:nvPr/>
        </p:nvSpPr>
        <p:spPr>
          <a:xfrm>
            <a:off x="640080" y="4581144"/>
            <a:ext cx="10911535" cy="731520"/>
          </a:xfrm>
          <a:prstGeom prst="rect">
            <a:avLst/>
          </a:prstGeom>
          <a:noFill/>
          <a:ln/>
        </p:spPr>
        <p:txBody>
          <a:bodyPr wrap="square" lIns="0" tIns="0" rIns="0" bIns="0" rtlCol="0" anchor="ctr"/>
          <a:lstStyle/>
          <a:p>
            <a:pPr indent="0" marL="0">
              <a:lnSpc>
                <a:spcPts val="2200"/>
              </a:lnSpc>
              <a:buNone/>
            </a:pPr>
            <a:r>
              <a:rPr lang="en-US" sz="1500" b="1" dirty="0">
                <a:solidFill>
                  <a:srgbClr val="028090"/>
                </a:solidFill>
                <a:latin typeface="Calibri" pitchFamily="34" charset="0"/>
                <a:ea typeface="Calibri" pitchFamily="34" charset="-122"/>
                <a:cs typeface="Calibri" pitchFamily="34" charset="-120"/>
              </a:rPr>
              <a:t>Why bother?  </a:t>
            </a:r>
            <a:pPr indent="0" marL="0">
              <a:lnSpc>
                <a:spcPts val="2200"/>
              </a:lnSpc>
              <a:buNone/>
            </a:pPr>
            <a:r>
              <a:rPr lang="en-US" sz="1500" dirty="0">
                <a:solidFill>
                  <a:srgbClr val="33474D"/>
                </a:solidFill>
                <a:latin typeface="Calibri" pitchFamily="34" charset="0"/>
                <a:ea typeface="Calibri" pitchFamily="34" charset="-122"/>
                <a:cs typeface="Calibri" pitchFamily="34" charset="-120"/>
              </a:rPr>
              <a:t>It moves the expensive part onto a subscription instead of per-token billing — and it keeps the agent boxed in. It is handed the decisions and asked only to write. Nothing it does can change which papers appear.</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THINGS THAT WENT WRONG</a:t>
            </a:r>
            <a:endParaRPr lang="en-US" sz="1200" dirty="0"/>
          </a:p>
        </p:txBody>
      </p:sp>
      <p:sp>
        <p:nvSpPr>
          <p:cNvPr id="3" name="Text 1"/>
          <p:cNvSpPr txBox="1"/>
          <p:nvPr/>
        </p:nvSpPr>
        <p:spPr>
          <a:xfrm>
            <a:off x="640080" y="786384"/>
            <a:ext cx="10911535" cy="868680"/>
          </a:xfrm>
          <a:prstGeom prst="rect">
            <a:avLst/>
          </a:prstGeom>
          <a:noFill/>
          <a:ln/>
        </p:spPr>
        <p:txBody>
          <a:bodyPr wrap="square" lIns="0" tIns="0" rIns="0" bIns="0" rtlCol="0" anchor="t"/>
          <a:lstStyle/>
          <a:p>
            <a:pPr indent="0" marL="0">
              <a:buNone/>
            </a:pPr>
            <a:r>
              <a:rPr lang="en-US" sz="3200" b="1" dirty="0">
                <a:solidFill>
                  <a:srgbClr val="06313A"/>
                </a:solidFill>
                <a:latin typeface="Cambria" pitchFamily="34" charset="0"/>
                <a:ea typeface="Cambria" pitchFamily="34" charset="-122"/>
                <a:cs typeface="Cambria" pitchFamily="34" charset="-120"/>
              </a:rPr>
              <a:t>Three that changed how I build these</a:t>
            </a:r>
            <a:endParaRPr lang="en-US" sz="3200" dirty="0"/>
          </a:p>
        </p:txBody>
      </p:sp>
      <p:sp>
        <p:nvSpPr>
          <p:cNvPr id="4" name="Shape 2"/>
          <p:cNvSpPr/>
          <p:nvPr/>
        </p:nvSpPr>
        <p:spPr>
          <a:xfrm>
            <a:off x="640080" y="1746504"/>
            <a:ext cx="3454298" cy="3337560"/>
          </a:xfrm>
          <a:prstGeom prst="roundRect">
            <a:avLst>
              <a:gd name="adj" fmla="val 2740"/>
            </a:avLst>
          </a:prstGeom>
          <a:solidFill>
            <a:srgbClr val="EAF3F4"/>
          </a:solidFill>
          <a:ln w="12700">
            <a:solidFill>
              <a:srgbClr val="EAF3F4"/>
            </a:solidFill>
            <a:prstDash val="solid"/>
          </a:ln>
        </p:spPr>
      </p:sp>
      <p:sp>
        <p:nvSpPr>
          <p:cNvPr id="5" name="Text 3"/>
          <p:cNvSpPr txBox="1"/>
          <p:nvPr/>
        </p:nvSpPr>
        <p:spPr>
          <a:xfrm>
            <a:off x="932688" y="2020824"/>
            <a:ext cx="2869082" cy="640080"/>
          </a:xfrm>
          <a:prstGeom prst="rect">
            <a:avLst/>
          </a:prstGeom>
          <a:noFill/>
          <a:ln/>
        </p:spPr>
        <p:txBody>
          <a:bodyPr wrap="square" lIns="0" tIns="0" rIns="0" bIns="0" rtlCol="0" anchor="ctr"/>
          <a:lstStyle/>
          <a:p>
            <a:pPr indent="0" marL="0">
              <a:lnSpc>
                <a:spcPts val="2300"/>
              </a:lnSpc>
              <a:buNone/>
            </a:pPr>
            <a:r>
              <a:rPr lang="en-US" sz="1800" b="1" dirty="0">
                <a:solidFill>
                  <a:srgbClr val="06313A"/>
                </a:solidFill>
                <a:latin typeface="Cambria" pitchFamily="34" charset="0"/>
                <a:ea typeface="Cambria" pitchFamily="34" charset="-122"/>
                <a:cs typeface="Cambria" pitchFamily="34" charset="-120"/>
              </a:rPr>
              <a:t>The four wrong diagnoses</a:t>
            </a:r>
            <a:endParaRPr lang="en-US" sz="1800" dirty="0"/>
          </a:p>
        </p:txBody>
      </p:sp>
      <p:sp>
        <p:nvSpPr>
          <p:cNvPr id="6" name="Text 4"/>
          <p:cNvSpPr txBox="1"/>
          <p:nvPr/>
        </p:nvSpPr>
        <p:spPr>
          <a:xfrm>
            <a:off x="932688" y="2706624"/>
            <a:ext cx="2869082" cy="1234440"/>
          </a:xfrm>
          <a:prstGeom prst="rect">
            <a:avLst/>
          </a:prstGeom>
          <a:noFill/>
          <a:ln/>
        </p:spPr>
        <p:txBody>
          <a:bodyPr wrap="square" lIns="0" tIns="0" rIns="0" bIns="0" rtlCol="0" anchor="ctr"/>
          <a:lstStyle/>
          <a:p>
            <a:pPr indent="0" marL="0">
              <a:lnSpc>
                <a:spcPts val="1700"/>
              </a:lnSpc>
              <a:buNone/>
            </a:pPr>
            <a:r>
              <a:rPr lang="en-US" sz="1250" dirty="0">
                <a:solidFill>
                  <a:srgbClr val="33474D"/>
                </a:solidFill>
                <a:latin typeface="Calibri" pitchFamily="34" charset="0"/>
                <a:ea typeface="Calibri" pitchFamily="34" charset="-122"/>
                <a:cs typeface="Calibri" pitchFamily="34" charset="-120"/>
              </a:rPr>
              <a:t>Trying a cheaper provider, four attempts scored zero papers. I misread the error three times — the real limit only became visible after a “fix” made the request bigger.</a:t>
            </a:r>
            <a:endParaRPr lang="en-US" sz="1250" dirty="0"/>
          </a:p>
        </p:txBody>
      </p:sp>
      <p:sp>
        <p:nvSpPr>
          <p:cNvPr id="7" name="Text 5"/>
          <p:cNvSpPr txBox="1"/>
          <p:nvPr/>
        </p:nvSpPr>
        <p:spPr>
          <a:xfrm>
            <a:off x="932688" y="4032504"/>
            <a:ext cx="2869082" cy="960120"/>
          </a:xfrm>
          <a:prstGeom prst="rect">
            <a:avLst/>
          </a:prstGeom>
          <a:noFill/>
          <a:ln/>
        </p:spPr>
        <p:txBody>
          <a:bodyPr wrap="square" lIns="0" tIns="0" rIns="0" bIns="0" rtlCol="0" anchor="ctr"/>
          <a:lstStyle/>
          <a:p>
            <a:pPr indent="0" marL="0">
              <a:lnSpc>
                <a:spcPts val="1700"/>
              </a:lnSpc>
              <a:buNone/>
            </a:pPr>
            <a:r>
              <a:rPr lang="en-US" sz="1250" b="1" dirty="0">
                <a:solidFill>
                  <a:srgbClr val="028090"/>
                </a:solidFill>
                <a:latin typeface="Calibri" pitchFamily="34" charset="0"/>
                <a:ea typeface="Calibri" pitchFamily="34" charset="-122"/>
                <a:cs typeface="Calibri" pitchFamily="34" charset="-120"/>
              </a:rPr>
              <a:t>We were throwing away the provider's error message and logging only a one-line summary. Log the full response.</a:t>
            </a:r>
            <a:endParaRPr lang="en-US" sz="1250" dirty="0"/>
          </a:p>
        </p:txBody>
      </p:sp>
      <p:sp>
        <p:nvSpPr>
          <p:cNvPr id="8" name="Shape 6"/>
          <p:cNvSpPr/>
          <p:nvPr/>
        </p:nvSpPr>
        <p:spPr>
          <a:xfrm>
            <a:off x="4368698" y="1746504"/>
            <a:ext cx="3454298" cy="3337560"/>
          </a:xfrm>
          <a:prstGeom prst="roundRect">
            <a:avLst>
              <a:gd name="adj" fmla="val 2740"/>
            </a:avLst>
          </a:prstGeom>
          <a:solidFill>
            <a:srgbClr val="EAF3F4"/>
          </a:solidFill>
          <a:ln w="12700">
            <a:solidFill>
              <a:srgbClr val="EAF3F4"/>
            </a:solidFill>
            <a:prstDash val="solid"/>
          </a:ln>
        </p:spPr>
      </p:sp>
      <p:sp>
        <p:nvSpPr>
          <p:cNvPr id="9" name="Text 7"/>
          <p:cNvSpPr txBox="1"/>
          <p:nvPr/>
        </p:nvSpPr>
        <p:spPr>
          <a:xfrm>
            <a:off x="4661306" y="2020824"/>
            <a:ext cx="2869082" cy="640080"/>
          </a:xfrm>
          <a:prstGeom prst="rect">
            <a:avLst/>
          </a:prstGeom>
          <a:noFill/>
          <a:ln/>
        </p:spPr>
        <p:txBody>
          <a:bodyPr wrap="square" lIns="0" tIns="0" rIns="0" bIns="0" rtlCol="0" anchor="ctr"/>
          <a:lstStyle/>
          <a:p>
            <a:pPr indent="0" marL="0">
              <a:lnSpc>
                <a:spcPts val="2300"/>
              </a:lnSpc>
              <a:buNone/>
            </a:pPr>
            <a:r>
              <a:rPr lang="en-US" sz="1800" b="1" dirty="0">
                <a:solidFill>
                  <a:srgbClr val="06313A"/>
                </a:solidFill>
                <a:latin typeface="Cambria" pitchFamily="34" charset="0"/>
                <a:ea typeface="Cambria" pitchFamily="34" charset="-122"/>
                <a:cs typeface="Cambria" pitchFamily="34" charset="-120"/>
              </a:rPr>
              <a:t>The optimization that never ran</a:t>
            </a:r>
            <a:endParaRPr lang="en-US" sz="1800" dirty="0"/>
          </a:p>
        </p:txBody>
      </p:sp>
      <p:sp>
        <p:nvSpPr>
          <p:cNvPr id="10" name="Text 8"/>
          <p:cNvSpPr txBox="1"/>
          <p:nvPr/>
        </p:nvSpPr>
        <p:spPr>
          <a:xfrm>
            <a:off x="4661306" y="2706624"/>
            <a:ext cx="2869082" cy="1234440"/>
          </a:xfrm>
          <a:prstGeom prst="rect">
            <a:avLst/>
          </a:prstGeom>
          <a:noFill/>
          <a:ln/>
        </p:spPr>
        <p:txBody>
          <a:bodyPr wrap="square" lIns="0" tIns="0" rIns="0" bIns="0" rtlCol="0" anchor="ctr"/>
          <a:lstStyle/>
          <a:p>
            <a:pPr indent="0" marL="0">
              <a:lnSpc>
                <a:spcPts val="1700"/>
              </a:lnSpc>
              <a:buNone/>
            </a:pPr>
            <a:r>
              <a:rPr lang="en-US" sz="1250" dirty="0">
                <a:solidFill>
                  <a:srgbClr val="33474D"/>
                </a:solidFill>
                <a:latin typeface="Calibri" pitchFamily="34" charset="0"/>
                <a:ea typeface="Calibri" pitchFamily="34" charset="-122"/>
                <a:cs typeface="Calibri" pitchFamily="34" charset="-120"/>
              </a:rPr>
              <a:t>A caching setting meant to cut costs did nothing for a month. Our prompt was just under the minimum size for it to apply, so it was silently ignored.</a:t>
            </a:r>
            <a:endParaRPr lang="en-US" sz="1250" dirty="0"/>
          </a:p>
        </p:txBody>
      </p:sp>
      <p:sp>
        <p:nvSpPr>
          <p:cNvPr id="11" name="Text 9"/>
          <p:cNvSpPr txBox="1"/>
          <p:nvPr/>
        </p:nvSpPr>
        <p:spPr>
          <a:xfrm>
            <a:off x="4661306" y="4032504"/>
            <a:ext cx="2869082" cy="960120"/>
          </a:xfrm>
          <a:prstGeom prst="rect">
            <a:avLst/>
          </a:prstGeom>
          <a:noFill/>
          <a:ln/>
        </p:spPr>
        <p:txBody>
          <a:bodyPr wrap="square" lIns="0" tIns="0" rIns="0" bIns="0" rtlCol="0" anchor="ctr"/>
          <a:lstStyle/>
          <a:p>
            <a:pPr indent="0" marL="0">
              <a:lnSpc>
                <a:spcPts val="1700"/>
              </a:lnSpc>
              <a:buNone/>
            </a:pPr>
            <a:r>
              <a:rPr lang="en-US" sz="1250" b="1" dirty="0">
                <a:solidFill>
                  <a:srgbClr val="028090"/>
                </a:solidFill>
                <a:latin typeface="Calibri" pitchFamily="34" charset="0"/>
                <a:ea typeface="Calibri" pitchFamily="34" charset="-122"/>
                <a:cs typeface="Calibri" pitchFamily="34" charset="-120"/>
              </a:rPr>
              <a:t>We only caught it because we report cache usage separately. Measure the optimization, don't trust the comment next to it.</a:t>
            </a:r>
            <a:endParaRPr lang="en-US" sz="1250" dirty="0"/>
          </a:p>
        </p:txBody>
      </p:sp>
      <p:sp>
        <p:nvSpPr>
          <p:cNvPr id="12" name="Shape 10"/>
          <p:cNvSpPr/>
          <p:nvPr/>
        </p:nvSpPr>
        <p:spPr>
          <a:xfrm>
            <a:off x="8097317" y="1746504"/>
            <a:ext cx="3454298" cy="3337560"/>
          </a:xfrm>
          <a:prstGeom prst="roundRect">
            <a:avLst>
              <a:gd name="adj" fmla="val 2740"/>
            </a:avLst>
          </a:prstGeom>
          <a:solidFill>
            <a:srgbClr val="EAF3F4"/>
          </a:solidFill>
          <a:ln w="12700">
            <a:solidFill>
              <a:srgbClr val="EAF3F4"/>
            </a:solidFill>
            <a:prstDash val="solid"/>
          </a:ln>
        </p:spPr>
      </p:sp>
      <p:sp>
        <p:nvSpPr>
          <p:cNvPr id="13" name="Text 11"/>
          <p:cNvSpPr txBox="1"/>
          <p:nvPr/>
        </p:nvSpPr>
        <p:spPr>
          <a:xfrm>
            <a:off x="8389925" y="2020824"/>
            <a:ext cx="2869082" cy="640080"/>
          </a:xfrm>
          <a:prstGeom prst="rect">
            <a:avLst/>
          </a:prstGeom>
          <a:noFill/>
          <a:ln/>
        </p:spPr>
        <p:txBody>
          <a:bodyPr wrap="square" lIns="0" tIns="0" rIns="0" bIns="0" rtlCol="0" anchor="ctr"/>
          <a:lstStyle/>
          <a:p>
            <a:pPr indent="0" marL="0">
              <a:lnSpc>
                <a:spcPts val="2300"/>
              </a:lnSpc>
              <a:buNone/>
            </a:pPr>
            <a:r>
              <a:rPr lang="en-US" sz="1800" b="1" dirty="0">
                <a:solidFill>
                  <a:srgbClr val="06313A"/>
                </a:solidFill>
                <a:latin typeface="Cambria" pitchFamily="34" charset="0"/>
                <a:ea typeface="Cambria" pitchFamily="34" charset="-122"/>
                <a:cs typeface="Cambria" pitchFamily="34" charset="-120"/>
              </a:rPr>
              <a:t>The reports nobody saw</a:t>
            </a:r>
            <a:endParaRPr lang="en-US" sz="1800" dirty="0"/>
          </a:p>
        </p:txBody>
      </p:sp>
      <p:sp>
        <p:nvSpPr>
          <p:cNvPr id="14" name="Text 12"/>
          <p:cNvSpPr txBox="1"/>
          <p:nvPr/>
        </p:nvSpPr>
        <p:spPr>
          <a:xfrm>
            <a:off x="8389925" y="2706624"/>
            <a:ext cx="2869082" cy="1234440"/>
          </a:xfrm>
          <a:prstGeom prst="rect">
            <a:avLst/>
          </a:prstGeom>
          <a:noFill/>
          <a:ln/>
        </p:spPr>
        <p:txBody>
          <a:bodyPr wrap="square" lIns="0" tIns="0" rIns="0" bIns="0" rtlCol="0" anchor="ctr"/>
          <a:lstStyle/>
          <a:p>
            <a:pPr indent="0" marL="0">
              <a:lnSpc>
                <a:spcPts val="1700"/>
              </a:lnSpc>
              <a:buNone/>
            </a:pPr>
            <a:r>
              <a:rPr lang="en-US" sz="1250" dirty="0">
                <a:solidFill>
                  <a:srgbClr val="33474D"/>
                </a:solidFill>
                <a:latin typeface="Calibri" pitchFamily="34" charset="0"/>
                <a:ea typeface="Calibri" pitchFamily="34" charset="-122"/>
                <a:cs typeface="Calibri" pitchFamily="34" charset="-120"/>
              </a:rPr>
              <a:t>In an earlier project, two finished reports were written and committed — to the wrong branch. The site only builds one branch. Nothing errored. Nobody noticed.</a:t>
            </a:r>
            <a:endParaRPr lang="en-US" sz="1250" dirty="0"/>
          </a:p>
        </p:txBody>
      </p:sp>
      <p:sp>
        <p:nvSpPr>
          <p:cNvPr id="15" name="Text 13"/>
          <p:cNvSpPr txBox="1"/>
          <p:nvPr/>
        </p:nvSpPr>
        <p:spPr>
          <a:xfrm>
            <a:off x="8389925" y="4032504"/>
            <a:ext cx="2869082" cy="960120"/>
          </a:xfrm>
          <a:prstGeom prst="rect">
            <a:avLst/>
          </a:prstGeom>
          <a:noFill/>
          <a:ln/>
        </p:spPr>
        <p:txBody>
          <a:bodyPr wrap="square" lIns="0" tIns="0" rIns="0" bIns="0" rtlCol="0" anchor="ctr"/>
          <a:lstStyle/>
          <a:p>
            <a:pPr indent="0" marL="0">
              <a:lnSpc>
                <a:spcPts val="1700"/>
              </a:lnSpc>
              <a:buNone/>
            </a:pPr>
            <a:r>
              <a:rPr lang="en-US" sz="1250" b="1" dirty="0">
                <a:solidFill>
                  <a:srgbClr val="028090"/>
                </a:solidFill>
                <a:latin typeface="Calibri" pitchFamily="34" charset="0"/>
                <a:ea typeface="Calibri" pitchFamily="34" charset="-122"/>
                <a:cs typeface="Calibri" pitchFamily="34" charset="-120"/>
              </a:rPr>
              <a:t>The job now verifies the result actually landed, rather than trusting a “success” message.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6313A"/>
        </a:solidFill>
      </p:bgPr>
    </p:bg>
    <p:spTree>
      <p:nvGrpSpPr>
        <p:cNvPr id="1" name=""/>
        <p:cNvGrpSpPr/>
        <p:nvPr/>
      </p:nvGrpSpPr>
      <p:grpSpPr>
        <a:xfrm>
          <a:off x="0" y="0"/>
          <a:ext cx="0" cy="0"/>
          <a:chOff x="0" y="0"/>
          <a:chExt cx="0" cy="0"/>
        </a:xfrm>
      </p:grpSpPr>
      <p:sp>
        <p:nvSpPr>
          <p:cNvPr id="2" name="Shape 0"/>
          <p:cNvSpPr/>
          <p:nvPr/>
        </p:nvSpPr>
        <p:spPr>
          <a:xfrm>
            <a:off x="-1828800" y="-1828800"/>
            <a:ext cx="5029200" cy="5029200"/>
          </a:xfrm>
          <a:prstGeom prst="ellipse">
            <a:avLst/>
          </a:prstGeom>
          <a:solidFill>
            <a:srgbClr val="0B4550"/>
          </a:solidFill>
          <a:ln w="12700">
            <a:solidFill>
              <a:srgbClr val="0B4550"/>
            </a:solidFill>
            <a:prstDash val="solid"/>
          </a:ln>
        </p:spPr>
      </p:sp>
      <p:sp>
        <p:nvSpPr>
          <p:cNvPr id="3" name="Text 1"/>
          <p:cNvSpPr txBox="1"/>
          <p:nvPr/>
        </p:nvSpPr>
        <p:spPr>
          <a:xfrm>
            <a:off x="640080" y="1371600"/>
            <a:ext cx="10911535" cy="274320"/>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If you remember one thing</a:t>
            </a:r>
            <a:endParaRPr lang="en-US" sz="1200" dirty="0"/>
          </a:p>
        </p:txBody>
      </p:sp>
      <p:sp>
        <p:nvSpPr>
          <p:cNvPr id="4" name="Text 2"/>
          <p:cNvSpPr txBox="1"/>
          <p:nvPr/>
        </p:nvSpPr>
        <p:spPr>
          <a:xfrm>
            <a:off x="640080" y="1920240"/>
            <a:ext cx="10424160" cy="1645920"/>
          </a:xfrm>
          <a:prstGeom prst="rect">
            <a:avLst/>
          </a:prstGeom>
          <a:noFill/>
          <a:ln/>
        </p:spPr>
        <p:txBody>
          <a:bodyPr wrap="square" lIns="0" tIns="0" rIns="0" bIns="0" rtlCol="0" anchor="ctr"/>
          <a:lstStyle/>
          <a:p>
            <a:pPr indent="0" marL="0">
              <a:lnSpc>
                <a:spcPts val="5800"/>
              </a:lnSpc>
              <a:buNone/>
            </a:pPr>
            <a:r>
              <a:rPr lang="en-US" sz="4400" b="1" dirty="0">
                <a:solidFill>
                  <a:srgbClr val="FFFFFF"/>
                </a:solidFill>
                <a:latin typeface="Cambria" pitchFamily="34" charset="0"/>
                <a:ea typeface="Cambria" pitchFamily="34" charset="-122"/>
                <a:cs typeface="Cambria" pitchFamily="34" charset="-120"/>
              </a:rPr>
              <a:t>“Done” is not evidence</a:t>
            </a:r>
            <a:endParaRPr lang="en-US" sz="4400" dirty="0"/>
          </a:p>
          <a:p>
            <a:pPr indent="0" marL="0">
              <a:lnSpc>
                <a:spcPts val="5800"/>
              </a:lnSpc>
              <a:buNone/>
            </a:pPr>
            <a:r>
              <a:rPr lang="en-US" sz="4400" b="1" dirty="0">
                <a:solidFill>
                  <a:srgbClr val="FFFFFF"/>
                </a:solidFill>
                <a:latin typeface="Cambria" pitchFamily="34" charset="0"/>
                <a:ea typeface="Cambria" pitchFamily="34" charset="-122"/>
                <a:cs typeface="Cambria" pitchFamily="34" charset="-120"/>
              </a:rPr>
              <a:t>that it happened.</a:t>
            </a:r>
            <a:endParaRPr lang="en-US" sz="4400" dirty="0"/>
          </a:p>
        </p:txBody>
      </p:sp>
      <p:sp>
        <p:nvSpPr>
          <p:cNvPr id="5" name="Text 3"/>
          <p:cNvSpPr txBox="1"/>
          <p:nvPr/>
        </p:nvSpPr>
        <p:spPr>
          <a:xfrm>
            <a:off x="640080" y="3886200"/>
            <a:ext cx="9326880" cy="1143000"/>
          </a:xfrm>
          <a:prstGeom prst="rect">
            <a:avLst/>
          </a:prstGeom>
          <a:noFill/>
          <a:ln/>
        </p:spPr>
        <p:txBody>
          <a:bodyPr wrap="square" lIns="0" tIns="0" rIns="0" bIns="0" rtlCol="0" anchor="ctr"/>
          <a:lstStyle/>
          <a:p>
            <a:pPr indent="0" marL="0">
              <a:lnSpc>
                <a:spcPts val="2600"/>
              </a:lnSpc>
              <a:buNone/>
            </a:pPr>
            <a:r>
              <a:rPr lang="en-US" sz="1700" dirty="0">
                <a:solidFill>
                  <a:srgbClr val="A8C6CB"/>
                </a:solidFill>
                <a:latin typeface="Calibri" pitchFamily="34" charset="0"/>
                <a:ea typeface="Calibri" pitchFamily="34" charset="-122"/>
                <a:cs typeface="Calibri" pitchFamily="34" charset="-120"/>
              </a:rPr>
              <a:t>This is true of a scheduled job, a model, and an agent alike. Check the effect you wanted — the file exists, the page changed, the number moved — not the status it reported about itself.</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256032"/>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TO TAKE AWAY</a:t>
            </a:r>
            <a:endParaRPr lang="en-US" sz="1200" dirty="0"/>
          </a:p>
        </p:txBody>
      </p:sp>
      <p:sp>
        <p:nvSpPr>
          <p:cNvPr id="3" name="Text 1"/>
          <p:cNvSpPr txBox="1"/>
          <p:nvPr/>
        </p:nvSpPr>
        <p:spPr>
          <a:xfrm>
            <a:off x="640080" y="786384"/>
            <a:ext cx="10911535" cy="868680"/>
          </a:xfrm>
          <a:prstGeom prst="rect">
            <a:avLst/>
          </a:prstGeom>
          <a:noFill/>
          <a:ln/>
        </p:spPr>
        <p:txBody>
          <a:bodyPr wrap="square" lIns="0" tIns="0" rIns="0" bIns="0" rtlCol="0" anchor="t"/>
          <a:lstStyle/>
          <a:p>
            <a:pPr indent="0" marL="0">
              <a:buNone/>
            </a:pPr>
            <a:r>
              <a:rPr lang="en-US" sz="3200" b="1" dirty="0">
                <a:solidFill>
                  <a:srgbClr val="06313A"/>
                </a:solidFill>
                <a:latin typeface="Cambria" pitchFamily="34" charset="0"/>
                <a:ea typeface="Cambria" pitchFamily="34" charset="-122"/>
                <a:cs typeface="Cambria" pitchFamily="34" charset="-120"/>
              </a:rPr>
              <a:t>Five things that transfer to almost any project</a:t>
            </a:r>
            <a:endParaRPr lang="en-US" sz="3200" dirty="0"/>
          </a:p>
        </p:txBody>
      </p:sp>
      <p:sp>
        <p:nvSpPr>
          <p:cNvPr id="4" name="Shape 2"/>
          <p:cNvSpPr/>
          <p:nvPr/>
        </p:nvSpPr>
        <p:spPr>
          <a:xfrm>
            <a:off x="640080" y="1764792"/>
            <a:ext cx="457200" cy="457200"/>
          </a:xfrm>
          <a:prstGeom prst="ellipse">
            <a:avLst/>
          </a:prstGeom>
          <a:solidFill>
            <a:srgbClr val="028090"/>
          </a:solidFill>
          <a:ln w="12700">
            <a:solidFill>
              <a:srgbClr val="028090"/>
            </a:solidFill>
            <a:prstDash val="solid"/>
          </a:ln>
        </p:spPr>
      </p:sp>
      <p:sp>
        <p:nvSpPr>
          <p:cNvPr id="5" name="Text 3"/>
          <p:cNvSpPr txBox="1"/>
          <p:nvPr/>
        </p:nvSpPr>
        <p:spPr>
          <a:xfrm>
            <a:off x="640080" y="176479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325880" y="1746504"/>
            <a:ext cx="5486400" cy="310896"/>
          </a:xfrm>
          <a:prstGeom prst="rect">
            <a:avLst/>
          </a:prstGeom>
          <a:noFill/>
          <a:ln/>
        </p:spPr>
        <p:txBody>
          <a:bodyPr wrap="square" lIns="0" tIns="0" rIns="0" bIns="0" rtlCol="0" anchor="ctr"/>
          <a:lstStyle/>
          <a:p>
            <a:pPr indent="0" marL="0">
              <a:buNone/>
            </a:pPr>
            <a:r>
              <a:rPr lang="en-US" sz="1600" b="1" dirty="0">
                <a:solidFill>
                  <a:srgbClr val="06313A"/>
                </a:solidFill>
                <a:latin typeface="Calibri" pitchFamily="34" charset="0"/>
                <a:ea typeface="Calibri" pitchFamily="34" charset="-122"/>
                <a:cs typeface="Calibri" pitchFamily="34" charset="-120"/>
              </a:rPr>
              <a:t>Put the model where the judgment is</a:t>
            </a:r>
            <a:endParaRPr lang="en-US" sz="1600" dirty="0"/>
          </a:p>
        </p:txBody>
      </p:sp>
      <p:sp>
        <p:nvSpPr>
          <p:cNvPr id="7" name="Text 5"/>
          <p:cNvSpPr txBox="1"/>
          <p:nvPr/>
        </p:nvSpPr>
        <p:spPr>
          <a:xfrm>
            <a:off x="1325880" y="2066544"/>
            <a:ext cx="5852160" cy="274320"/>
          </a:xfrm>
          <a:prstGeom prst="rect">
            <a:avLst/>
          </a:prstGeom>
          <a:noFill/>
          <a:ln/>
        </p:spPr>
        <p:txBody>
          <a:bodyPr wrap="square" lIns="0" tIns="0" rIns="0" bIns="0" rtlCol="0" anchor="ctr"/>
          <a:lstStyle/>
          <a:p>
            <a:pPr indent="0" marL="0">
              <a:buNone/>
            </a:pPr>
            <a:r>
              <a:rPr lang="en-US" sz="1300" dirty="0">
                <a:solidFill>
                  <a:srgbClr val="70898F"/>
                </a:solidFill>
                <a:latin typeface="Calibri" pitchFamily="34" charset="0"/>
                <a:ea typeface="Calibri" pitchFamily="34" charset="-122"/>
                <a:cs typeface="Calibri" pitchFamily="34" charset="-120"/>
              </a:rPr>
              <a:t>and let ordinary code do everything else.</a:t>
            </a:r>
            <a:endParaRPr lang="en-US" sz="1300" dirty="0"/>
          </a:p>
        </p:txBody>
      </p:sp>
      <p:sp>
        <p:nvSpPr>
          <p:cNvPr id="8" name="Shape 6"/>
          <p:cNvSpPr/>
          <p:nvPr/>
        </p:nvSpPr>
        <p:spPr>
          <a:xfrm>
            <a:off x="640080" y="2459736"/>
            <a:ext cx="457200" cy="457200"/>
          </a:xfrm>
          <a:prstGeom prst="ellipse">
            <a:avLst/>
          </a:prstGeom>
          <a:solidFill>
            <a:srgbClr val="028090"/>
          </a:solidFill>
          <a:ln w="12700">
            <a:solidFill>
              <a:srgbClr val="028090"/>
            </a:solidFill>
            <a:prstDash val="solid"/>
          </a:ln>
        </p:spPr>
      </p:sp>
      <p:sp>
        <p:nvSpPr>
          <p:cNvPr id="9" name="Text 7"/>
          <p:cNvSpPr txBox="1"/>
          <p:nvPr/>
        </p:nvSpPr>
        <p:spPr>
          <a:xfrm>
            <a:off x="640080" y="24597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325880" y="2441448"/>
            <a:ext cx="5486400" cy="310896"/>
          </a:xfrm>
          <a:prstGeom prst="rect">
            <a:avLst/>
          </a:prstGeom>
          <a:noFill/>
          <a:ln/>
        </p:spPr>
        <p:txBody>
          <a:bodyPr wrap="square" lIns="0" tIns="0" rIns="0" bIns="0" rtlCol="0" anchor="ctr"/>
          <a:lstStyle/>
          <a:p>
            <a:pPr indent="0" marL="0">
              <a:buNone/>
            </a:pPr>
            <a:r>
              <a:rPr lang="en-US" sz="1600" b="1" dirty="0">
                <a:solidFill>
                  <a:srgbClr val="06313A"/>
                </a:solidFill>
                <a:latin typeface="Calibri" pitchFamily="34" charset="0"/>
                <a:ea typeface="Calibri" pitchFamily="34" charset="-122"/>
                <a:cs typeface="Calibri" pitchFamily="34" charset="-120"/>
              </a:rPr>
              <a:t>Write the instructions for the model</a:t>
            </a:r>
            <a:endParaRPr lang="en-US" sz="1600" dirty="0"/>
          </a:p>
        </p:txBody>
      </p:sp>
      <p:sp>
        <p:nvSpPr>
          <p:cNvPr id="11" name="Text 9"/>
          <p:cNvSpPr txBox="1"/>
          <p:nvPr/>
        </p:nvSpPr>
        <p:spPr>
          <a:xfrm>
            <a:off x="1325880" y="2761488"/>
            <a:ext cx="5852160" cy="274320"/>
          </a:xfrm>
          <a:prstGeom prst="rect">
            <a:avLst/>
          </a:prstGeom>
          <a:noFill/>
          <a:ln/>
        </p:spPr>
        <p:txBody>
          <a:bodyPr wrap="square" lIns="0" tIns="0" rIns="0" bIns="0" rtlCol="0" anchor="ctr"/>
          <a:lstStyle/>
          <a:p>
            <a:pPr indent="0" marL="0">
              <a:buNone/>
            </a:pPr>
            <a:r>
              <a:rPr lang="en-US" sz="1300" dirty="0">
                <a:solidFill>
                  <a:srgbClr val="70898F"/>
                </a:solidFill>
                <a:latin typeface="Calibri" pitchFamily="34" charset="0"/>
                <a:ea typeface="Calibri" pitchFamily="34" charset="-122"/>
                <a:cs typeface="Calibri" pitchFamily="34" charset="-120"/>
              </a:rPr>
              <a:t>keep them in a settings file, and review changes like code.</a:t>
            </a:r>
            <a:endParaRPr lang="en-US" sz="1300" dirty="0"/>
          </a:p>
        </p:txBody>
      </p:sp>
      <p:sp>
        <p:nvSpPr>
          <p:cNvPr id="12" name="Shape 10"/>
          <p:cNvSpPr/>
          <p:nvPr/>
        </p:nvSpPr>
        <p:spPr>
          <a:xfrm>
            <a:off x="640080" y="3154680"/>
            <a:ext cx="457200" cy="457200"/>
          </a:xfrm>
          <a:prstGeom prst="ellipse">
            <a:avLst/>
          </a:prstGeom>
          <a:solidFill>
            <a:srgbClr val="028090"/>
          </a:solidFill>
          <a:ln w="12700">
            <a:solidFill>
              <a:srgbClr val="028090"/>
            </a:solidFill>
            <a:prstDash val="solid"/>
          </a:ln>
        </p:spPr>
      </p:sp>
      <p:sp>
        <p:nvSpPr>
          <p:cNvPr id="13" name="Text 11"/>
          <p:cNvSpPr txBox="1"/>
          <p:nvPr/>
        </p:nvSpPr>
        <p:spPr>
          <a:xfrm>
            <a:off x="640080" y="3154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325880" y="3136392"/>
            <a:ext cx="5486400" cy="310896"/>
          </a:xfrm>
          <a:prstGeom prst="rect">
            <a:avLst/>
          </a:prstGeom>
          <a:noFill/>
          <a:ln/>
        </p:spPr>
        <p:txBody>
          <a:bodyPr wrap="square" lIns="0" tIns="0" rIns="0" bIns="0" rtlCol="0" anchor="ctr"/>
          <a:lstStyle/>
          <a:p>
            <a:pPr indent="0" marL="0">
              <a:buNone/>
            </a:pPr>
            <a:r>
              <a:rPr lang="en-US" sz="1600" b="1" dirty="0">
                <a:solidFill>
                  <a:srgbClr val="06313A"/>
                </a:solidFill>
                <a:latin typeface="Calibri" pitchFamily="34" charset="0"/>
                <a:ea typeface="Calibri" pitchFamily="34" charset="-122"/>
                <a:cs typeface="Calibri" pitchFamily="34" charset="-120"/>
              </a:rPr>
              <a:t>Make a missing answer loud</a:t>
            </a:r>
            <a:endParaRPr lang="en-US" sz="1600" dirty="0"/>
          </a:p>
        </p:txBody>
      </p:sp>
      <p:sp>
        <p:nvSpPr>
          <p:cNvPr id="15" name="Text 13"/>
          <p:cNvSpPr txBox="1"/>
          <p:nvPr/>
        </p:nvSpPr>
        <p:spPr>
          <a:xfrm>
            <a:off x="1325880" y="3456432"/>
            <a:ext cx="5852160" cy="274320"/>
          </a:xfrm>
          <a:prstGeom prst="rect">
            <a:avLst/>
          </a:prstGeom>
          <a:noFill/>
          <a:ln/>
        </p:spPr>
        <p:txBody>
          <a:bodyPr wrap="square" lIns="0" tIns="0" rIns="0" bIns="0" rtlCol="0" anchor="ctr"/>
          <a:lstStyle/>
          <a:p>
            <a:pPr indent="0" marL="0">
              <a:buNone/>
            </a:pPr>
            <a:r>
              <a:rPr lang="en-US" sz="1300" dirty="0">
                <a:solidFill>
                  <a:srgbClr val="70898F"/>
                </a:solidFill>
                <a:latin typeface="Calibri" pitchFamily="34" charset="0"/>
                <a:ea typeface="Calibri" pitchFamily="34" charset="-122"/>
                <a:cs typeface="Calibri" pitchFamily="34" charset="-120"/>
              </a:rPr>
              <a:t>a silent gap is a quality leak you'll never see.</a:t>
            </a:r>
            <a:endParaRPr lang="en-US" sz="1300" dirty="0"/>
          </a:p>
        </p:txBody>
      </p:sp>
      <p:sp>
        <p:nvSpPr>
          <p:cNvPr id="16" name="Shape 14"/>
          <p:cNvSpPr/>
          <p:nvPr/>
        </p:nvSpPr>
        <p:spPr>
          <a:xfrm>
            <a:off x="640080" y="3849624"/>
            <a:ext cx="457200" cy="457200"/>
          </a:xfrm>
          <a:prstGeom prst="ellipse">
            <a:avLst/>
          </a:prstGeom>
          <a:solidFill>
            <a:srgbClr val="028090"/>
          </a:solidFill>
          <a:ln w="12700">
            <a:solidFill>
              <a:srgbClr val="028090"/>
            </a:solidFill>
            <a:prstDash val="solid"/>
          </a:ln>
        </p:spPr>
      </p:sp>
      <p:sp>
        <p:nvSpPr>
          <p:cNvPr id="17" name="Text 15"/>
          <p:cNvSpPr txBox="1"/>
          <p:nvPr/>
        </p:nvSpPr>
        <p:spPr>
          <a:xfrm>
            <a:off x="640080" y="384962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325880" y="3831336"/>
            <a:ext cx="5486400" cy="310896"/>
          </a:xfrm>
          <a:prstGeom prst="rect">
            <a:avLst/>
          </a:prstGeom>
          <a:noFill/>
          <a:ln/>
        </p:spPr>
        <p:txBody>
          <a:bodyPr wrap="square" lIns="0" tIns="0" rIns="0" bIns="0" rtlCol="0" anchor="ctr"/>
          <a:lstStyle/>
          <a:p>
            <a:pPr indent="0" marL="0">
              <a:buNone/>
            </a:pPr>
            <a:r>
              <a:rPr lang="en-US" sz="1600" b="1" dirty="0">
                <a:solidFill>
                  <a:srgbClr val="06313A"/>
                </a:solidFill>
                <a:latin typeface="Calibri" pitchFamily="34" charset="0"/>
                <a:ea typeface="Calibri" pitchFamily="34" charset="-122"/>
                <a:cs typeface="Calibri" pitchFamily="34" charset="-120"/>
              </a:rPr>
              <a:t>Measure the cost before optimizing it</a:t>
            </a:r>
            <a:endParaRPr lang="en-US" sz="1600" dirty="0"/>
          </a:p>
        </p:txBody>
      </p:sp>
      <p:sp>
        <p:nvSpPr>
          <p:cNvPr id="19" name="Text 17"/>
          <p:cNvSpPr txBox="1"/>
          <p:nvPr/>
        </p:nvSpPr>
        <p:spPr>
          <a:xfrm>
            <a:off x="1325880" y="4151376"/>
            <a:ext cx="5852160" cy="274320"/>
          </a:xfrm>
          <a:prstGeom prst="rect">
            <a:avLst/>
          </a:prstGeom>
          <a:noFill/>
          <a:ln/>
        </p:spPr>
        <p:txBody>
          <a:bodyPr wrap="square" lIns="0" tIns="0" rIns="0" bIns="0" rtlCol="0" anchor="ctr"/>
          <a:lstStyle/>
          <a:p>
            <a:pPr indent="0" marL="0">
              <a:buNone/>
            </a:pPr>
            <a:r>
              <a:rPr lang="en-US" sz="1300" dirty="0">
                <a:solidFill>
                  <a:srgbClr val="70898F"/>
                </a:solidFill>
                <a:latin typeface="Calibri" pitchFamily="34" charset="0"/>
                <a:ea typeface="Calibri" pitchFamily="34" charset="-122"/>
                <a:cs typeface="Calibri" pitchFamily="34" charset="-120"/>
              </a:rPr>
              <a:t>usually there's nothing there — then choose on quality.</a:t>
            </a:r>
            <a:endParaRPr lang="en-US" sz="1300" dirty="0"/>
          </a:p>
        </p:txBody>
      </p:sp>
      <p:sp>
        <p:nvSpPr>
          <p:cNvPr id="20" name="Shape 18"/>
          <p:cNvSpPr/>
          <p:nvPr/>
        </p:nvSpPr>
        <p:spPr>
          <a:xfrm>
            <a:off x="640080" y="4544568"/>
            <a:ext cx="457200" cy="457200"/>
          </a:xfrm>
          <a:prstGeom prst="ellipse">
            <a:avLst/>
          </a:prstGeom>
          <a:solidFill>
            <a:srgbClr val="02C39A"/>
          </a:solidFill>
          <a:ln w="12700">
            <a:solidFill>
              <a:srgbClr val="02C39A"/>
            </a:solidFill>
            <a:prstDash val="solid"/>
          </a:ln>
        </p:spPr>
      </p:sp>
      <p:sp>
        <p:nvSpPr>
          <p:cNvPr id="21" name="Text 19"/>
          <p:cNvSpPr txBox="1"/>
          <p:nvPr/>
        </p:nvSpPr>
        <p:spPr>
          <a:xfrm>
            <a:off x="640080" y="4544568"/>
            <a:ext cx="457200" cy="457200"/>
          </a:xfrm>
          <a:prstGeom prst="rect">
            <a:avLst/>
          </a:prstGeom>
          <a:noFill/>
          <a:ln/>
        </p:spPr>
        <p:txBody>
          <a:bodyPr wrap="square" lIns="0" tIns="0" rIns="0" bIns="0" rtlCol="0" anchor="ctr"/>
          <a:lstStyle/>
          <a:p>
            <a:pPr algn="ctr" indent="0" marL="0">
              <a:buNone/>
            </a:pPr>
            <a:r>
              <a:rPr lang="en-US" sz="1400" b="1" dirty="0">
                <a:solidFill>
                  <a:srgbClr val="06313A"/>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1325880" y="4526280"/>
            <a:ext cx="5486400" cy="310896"/>
          </a:xfrm>
          <a:prstGeom prst="rect">
            <a:avLst/>
          </a:prstGeom>
          <a:noFill/>
          <a:ln/>
        </p:spPr>
        <p:txBody>
          <a:bodyPr wrap="square" lIns="0" tIns="0" rIns="0" bIns="0" rtlCol="0" anchor="ctr"/>
          <a:lstStyle/>
          <a:p>
            <a:pPr indent="0" marL="0">
              <a:buNone/>
            </a:pPr>
            <a:r>
              <a:rPr lang="en-US" sz="1600" b="1" dirty="0">
                <a:solidFill>
                  <a:srgbClr val="06313A"/>
                </a:solidFill>
                <a:latin typeface="Calibri" pitchFamily="34" charset="0"/>
                <a:ea typeface="Calibri" pitchFamily="34" charset="-122"/>
                <a:cs typeface="Calibri" pitchFamily="34" charset="-120"/>
              </a:rPr>
              <a:t>Verify the effect, not the status</a:t>
            </a:r>
            <a:endParaRPr lang="en-US" sz="1600" dirty="0"/>
          </a:p>
        </p:txBody>
      </p:sp>
      <p:sp>
        <p:nvSpPr>
          <p:cNvPr id="23" name="Text 21"/>
          <p:cNvSpPr txBox="1"/>
          <p:nvPr/>
        </p:nvSpPr>
        <p:spPr>
          <a:xfrm>
            <a:off x="1325880" y="4846320"/>
            <a:ext cx="5852160" cy="274320"/>
          </a:xfrm>
          <a:prstGeom prst="rect">
            <a:avLst/>
          </a:prstGeom>
          <a:noFill/>
          <a:ln/>
        </p:spPr>
        <p:txBody>
          <a:bodyPr wrap="square" lIns="0" tIns="0" rIns="0" bIns="0" rtlCol="0" anchor="ctr"/>
          <a:lstStyle/>
          <a:p>
            <a:pPr indent="0" marL="0">
              <a:buNone/>
            </a:pPr>
            <a:r>
              <a:rPr lang="en-US" sz="1300" dirty="0">
                <a:solidFill>
                  <a:srgbClr val="70898F"/>
                </a:solidFill>
                <a:latin typeface="Calibri" pitchFamily="34" charset="0"/>
                <a:ea typeface="Calibri" pitchFamily="34" charset="-122"/>
                <a:cs typeface="Calibri" pitchFamily="34" charset="-120"/>
              </a:rPr>
              <a:t>especially when an agent tells you it's finished.</a:t>
            </a:r>
            <a:endParaRPr lang="en-US" sz="1300" dirty="0"/>
          </a:p>
        </p:txBody>
      </p:sp>
      <p:sp>
        <p:nvSpPr>
          <p:cNvPr id="24" name="Shape 22"/>
          <p:cNvSpPr/>
          <p:nvPr/>
        </p:nvSpPr>
        <p:spPr>
          <a:xfrm>
            <a:off x="7589520" y="1746504"/>
            <a:ext cx="3959352" cy="3291840"/>
          </a:xfrm>
          <a:prstGeom prst="roundRect">
            <a:avLst>
              <a:gd name="adj" fmla="val 2778"/>
            </a:avLst>
          </a:prstGeom>
          <a:solidFill>
            <a:srgbClr val="06313A"/>
          </a:solidFill>
          <a:ln w="12700">
            <a:solidFill>
              <a:srgbClr val="06313A"/>
            </a:solidFill>
            <a:prstDash val="solid"/>
          </a:ln>
          <a:effectLst>
            <a:outerShdw sx="100000" sy="100000" kx="0" ky="0" algn="bl" rotWithShape="0" blurRad="127000" dist="762" dir="5400000">
              <a:srgbClr val="000000">
                <a:alpha val="12000"/>
              </a:srgbClr>
            </a:outerShdw>
          </a:effectLst>
        </p:spPr>
      </p:sp>
      <p:sp>
        <p:nvSpPr>
          <p:cNvPr id="25" name="Text 23"/>
          <p:cNvSpPr txBox="1"/>
          <p:nvPr/>
        </p:nvSpPr>
        <p:spPr>
          <a:xfrm>
            <a:off x="7909560" y="2066544"/>
            <a:ext cx="3383280" cy="4114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Questions</a:t>
            </a:r>
            <a:endParaRPr lang="en-US" sz="2600" dirty="0"/>
          </a:p>
        </p:txBody>
      </p:sp>
      <p:sp>
        <p:nvSpPr>
          <p:cNvPr id="26" name="Text 24"/>
          <p:cNvSpPr txBox="1"/>
          <p:nvPr/>
        </p:nvSpPr>
        <p:spPr>
          <a:xfrm>
            <a:off x="7909560" y="2660904"/>
            <a:ext cx="3383280" cy="2011680"/>
          </a:xfrm>
          <a:prstGeom prst="rect">
            <a:avLst/>
          </a:prstGeom>
          <a:noFill/>
          <a:ln/>
        </p:spPr>
        <p:txBody>
          <a:bodyPr wrap="square" lIns="0" tIns="0" rIns="0" bIns="0" rtlCol="0" anchor="ctr"/>
          <a:lstStyle/>
          <a:p>
            <a:pPr marL="342900" indent="-342900">
              <a:lnSpc>
                <a:spcPts val="1700"/>
              </a:lnSpc>
              <a:spcAft>
                <a:spcPts val="1000"/>
              </a:spcAft>
              <a:buSzPct val="100000"/>
              <a:buChar char="•"/>
            </a:pPr>
            <a:r>
              <a:rPr lang="en-US" sz="1300" dirty="0">
                <a:solidFill>
                  <a:srgbClr val="CDECE5"/>
                </a:solidFill>
                <a:latin typeface="Calibri" pitchFamily="34" charset="0"/>
                <a:ea typeface="Calibri" pitchFamily="34" charset="-122"/>
                <a:cs typeface="Calibri" pitchFamily="34" charset="-120"/>
              </a:rPr>
              <a:t>Why no vector database?</a:t>
            </a:r>
            <a:endParaRPr lang="en-US" sz="1300" dirty="0"/>
          </a:p>
          <a:p>
            <a:pPr marL="342900" indent="-342900">
              <a:lnSpc>
                <a:spcPts val="1700"/>
              </a:lnSpc>
              <a:spcAft>
                <a:spcPts val="1000"/>
              </a:spcAft>
              <a:buSzPct val="100000"/>
              <a:buChar char="•"/>
            </a:pPr>
            <a:r>
              <a:rPr lang="en-US" sz="1300" dirty="0">
                <a:solidFill>
                  <a:srgbClr val="CDECE5"/>
                </a:solidFill>
                <a:latin typeface="Calibri" pitchFamily="34" charset="0"/>
                <a:ea typeface="Calibri" pitchFamily="34" charset="-122"/>
                <a:cs typeface="Calibri" pitchFamily="34" charset="-120"/>
              </a:rPr>
              <a:t>How do you know the summaries are accurate?</a:t>
            </a:r>
            <a:endParaRPr lang="en-US" sz="1300" dirty="0"/>
          </a:p>
          <a:p>
            <a:pPr marL="342900" indent="-342900">
              <a:lnSpc>
                <a:spcPts val="1700"/>
              </a:lnSpc>
              <a:spcAft>
                <a:spcPts val="1000"/>
              </a:spcAft>
              <a:buSzPct val="100000"/>
              <a:buChar char="•"/>
            </a:pPr>
            <a:r>
              <a:rPr lang="en-US" sz="1300" dirty="0">
                <a:solidFill>
                  <a:srgbClr val="CDECE5"/>
                </a:solidFill>
                <a:latin typeface="Calibri" pitchFamily="34" charset="0"/>
                <a:ea typeface="Calibri" pitchFamily="34" charset="-122"/>
                <a:cs typeface="Calibri" pitchFamily="34" charset="-120"/>
              </a:rPr>
              <a:t>What about copyright and paywalls?</a:t>
            </a:r>
            <a:endParaRPr lang="en-US" sz="1300" dirty="0"/>
          </a:p>
          <a:p>
            <a:pPr marL="342900" indent="-342900">
              <a:lnSpc>
                <a:spcPts val="1700"/>
              </a:lnSpc>
              <a:spcAft>
                <a:spcPts val="1000"/>
              </a:spcAft>
              <a:buSzPct val="100000"/>
              <a:buChar char="•"/>
            </a:pPr>
            <a:r>
              <a:rPr lang="en-US" sz="1300" dirty="0">
                <a:solidFill>
                  <a:srgbClr val="CDECE5"/>
                </a:solidFill>
                <a:latin typeface="Calibri" pitchFamily="34" charset="0"/>
                <a:ea typeface="Calibri" pitchFamily="34" charset="-122"/>
                <a:cs typeface="Calibri" pitchFamily="34" charset="-120"/>
              </a:rPr>
              <a:t>Could this work for our team's sources?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CCPSLitReview</dc:title>
  <dc:subject>PptxGenJS Presentation</dc:subject>
  <dc:creator>CCPSLitReview</dc:creator>
  <cp:lastModifiedBy>CCPSLitReview</cp:lastModifiedBy>
  <cp:revision>1</cp:revision>
  <dcterms:created xsi:type="dcterms:W3CDTF">2026-09-12T13:54:54Z</dcterms:created>
  <dcterms:modified xsi:type="dcterms:W3CDTF">2026-09-12T13:54:54Z</dcterms:modified>
</cp:coreProperties>
</file>